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76197"/>
            <a:ext cx="546735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332" y="507616"/>
            <a:ext cx="4965700" cy="1364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4139" y="2950381"/>
            <a:ext cx="275589" cy="173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22373A"/>
                </a:solidFill>
                <a:latin typeface="Trebuchet MS"/>
                <a:cs typeface="Trebuchet MS"/>
              </a:defRPr>
            </a:lvl1pPr>
          </a:lstStyle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#</a:t>
            </a:fld>
            <a:r>
              <a:rPr dirty="0" spc="-25"/>
              <a:t>/6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934265"/>
            <a:ext cx="4926330" cy="54927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2700"/>
              </a:lnSpc>
              <a:spcBef>
                <a:spcPts val="90"/>
              </a:spcBef>
            </a:pPr>
            <a:r>
              <a:rPr dirty="0" sz="1400" spc="-20">
                <a:solidFill>
                  <a:srgbClr val="22373A"/>
                </a:solidFill>
              </a:rPr>
              <a:t>BERT:</a:t>
            </a:r>
            <a:r>
              <a:rPr dirty="0" sz="1400" spc="-10">
                <a:solidFill>
                  <a:srgbClr val="22373A"/>
                </a:solidFill>
              </a:rPr>
              <a:t> </a:t>
            </a:r>
            <a:r>
              <a:rPr dirty="0" sz="1400" spc="-105">
                <a:solidFill>
                  <a:srgbClr val="22373A"/>
                </a:solidFill>
              </a:rPr>
              <a:t>Pre-</a:t>
            </a:r>
            <a:r>
              <a:rPr dirty="0" sz="1400" spc="-95">
                <a:solidFill>
                  <a:srgbClr val="22373A"/>
                </a:solidFill>
              </a:rPr>
              <a:t>training</a:t>
            </a:r>
            <a:r>
              <a:rPr dirty="0" sz="1400" spc="15">
                <a:solidFill>
                  <a:srgbClr val="22373A"/>
                </a:solidFill>
              </a:rPr>
              <a:t> </a:t>
            </a:r>
            <a:r>
              <a:rPr dirty="0" sz="1400" spc="-55">
                <a:solidFill>
                  <a:srgbClr val="22373A"/>
                </a:solidFill>
              </a:rPr>
              <a:t>of</a:t>
            </a:r>
            <a:r>
              <a:rPr dirty="0" sz="1400" spc="20">
                <a:solidFill>
                  <a:srgbClr val="22373A"/>
                </a:solidFill>
              </a:rPr>
              <a:t> </a:t>
            </a:r>
            <a:r>
              <a:rPr dirty="0" sz="1400" spc="-120">
                <a:solidFill>
                  <a:srgbClr val="22373A"/>
                </a:solidFill>
              </a:rPr>
              <a:t>Deep</a:t>
            </a:r>
            <a:r>
              <a:rPr dirty="0" sz="1400" spc="15">
                <a:solidFill>
                  <a:srgbClr val="22373A"/>
                </a:solidFill>
              </a:rPr>
              <a:t> </a:t>
            </a:r>
            <a:r>
              <a:rPr dirty="0" sz="1400" spc="-125">
                <a:solidFill>
                  <a:srgbClr val="22373A"/>
                </a:solidFill>
              </a:rPr>
              <a:t>Bidirectional</a:t>
            </a:r>
            <a:r>
              <a:rPr dirty="0" sz="1400" spc="20">
                <a:solidFill>
                  <a:srgbClr val="22373A"/>
                </a:solidFill>
              </a:rPr>
              <a:t> </a:t>
            </a:r>
            <a:r>
              <a:rPr dirty="0" sz="1400" spc="-160">
                <a:solidFill>
                  <a:srgbClr val="22373A"/>
                </a:solidFill>
              </a:rPr>
              <a:t>Transformers</a:t>
            </a:r>
            <a:r>
              <a:rPr dirty="0" sz="1400" spc="45">
                <a:solidFill>
                  <a:srgbClr val="22373A"/>
                </a:solidFill>
              </a:rPr>
              <a:t> </a:t>
            </a:r>
            <a:r>
              <a:rPr dirty="0" sz="1400" spc="-55">
                <a:solidFill>
                  <a:srgbClr val="22373A"/>
                </a:solidFill>
              </a:rPr>
              <a:t>for </a:t>
            </a:r>
            <a:r>
              <a:rPr dirty="0" sz="1400" spc="-160">
                <a:solidFill>
                  <a:srgbClr val="22373A"/>
                </a:solidFill>
              </a:rPr>
              <a:t>Language</a:t>
            </a:r>
            <a:r>
              <a:rPr dirty="0" sz="1400" spc="60">
                <a:solidFill>
                  <a:srgbClr val="22373A"/>
                </a:solidFill>
              </a:rPr>
              <a:t> </a:t>
            </a:r>
            <a:r>
              <a:rPr dirty="0" sz="1400" spc="-65">
                <a:solidFill>
                  <a:srgbClr val="22373A"/>
                </a:solidFill>
              </a:rPr>
              <a:t>Understanding</a:t>
            </a:r>
            <a:endParaRPr sz="1400"/>
          </a:p>
        </p:txBody>
      </p:sp>
      <p:sp>
        <p:nvSpPr>
          <p:cNvPr id="3" name="object 3"/>
          <p:cNvSpPr/>
          <p:nvPr/>
        </p:nvSpPr>
        <p:spPr>
          <a:xfrm>
            <a:off x="359994" y="1718252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2011748"/>
            <a:ext cx="101726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>
                <a:solidFill>
                  <a:srgbClr val="22373A"/>
                </a:solidFill>
                <a:latin typeface="Arial"/>
                <a:cs typeface="Arial"/>
              </a:rPr>
              <a:t>Jacob</a:t>
            </a:r>
            <a:r>
              <a:rPr dirty="0" sz="10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2373A"/>
                </a:solidFill>
                <a:latin typeface="Arial"/>
                <a:cs typeface="Arial"/>
              </a:rPr>
              <a:t>Devlin</a:t>
            </a:r>
            <a:r>
              <a:rPr dirty="0" sz="10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2373A"/>
                </a:solidFill>
                <a:latin typeface="Arial"/>
                <a:cs typeface="Arial"/>
              </a:rPr>
              <a:t>et</a:t>
            </a:r>
            <a:r>
              <a:rPr dirty="0" sz="10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22373A"/>
                </a:solidFill>
                <a:latin typeface="Arial"/>
                <a:cs typeface="Arial"/>
              </a:rPr>
              <a:t>al.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579755"/>
          </a:xfrm>
          <a:custGeom>
            <a:avLst/>
            <a:gdLst/>
            <a:ahLst/>
            <a:cxnLst/>
            <a:rect l="l" t="t" r="r" b="b"/>
            <a:pathLst>
              <a:path w="5760085" h="579755">
                <a:moveTo>
                  <a:pt x="5759996" y="0"/>
                </a:moveTo>
                <a:lnTo>
                  <a:pt x="0" y="0"/>
                </a:lnTo>
                <a:lnTo>
                  <a:pt x="0" y="579742"/>
                </a:lnTo>
                <a:lnTo>
                  <a:pt x="5759996" y="579742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631" y="54686"/>
            <a:ext cx="5514975" cy="4330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1400"/>
              </a:lnSpc>
              <a:spcBef>
                <a:spcPts val="100"/>
              </a:spcBef>
            </a:pPr>
            <a:r>
              <a:rPr dirty="0" spc="-130"/>
              <a:t>Unidirectional</a:t>
            </a:r>
            <a:r>
              <a:rPr dirty="0" spc="30"/>
              <a:t> </a:t>
            </a:r>
            <a:r>
              <a:rPr dirty="0" spc="-114"/>
              <a:t>Models</a:t>
            </a:r>
            <a:r>
              <a:rPr dirty="0" spc="15"/>
              <a:t> </a:t>
            </a:r>
            <a:r>
              <a:rPr dirty="0" spc="-90"/>
              <a:t>Limit</a:t>
            </a:r>
            <a:r>
              <a:rPr dirty="0" spc="5"/>
              <a:t> </a:t>
            </a:r>
            <a:r>
              <a:rPr dirty="0" spc="-105"/>
              <a:t>Context;</a:t>
            </a:r>
            <a:r>
              <a:rPr dirty="0" spc="55"/>
              <a:t> </a:t>
            </a:r>
            <a:r>
              <a:rPr dirty="0" spc="-25"/>
              <a:t>BERT</a:t>
            </a:r>
            <a:r>
              <a:rPr dirty="0" spc="30"/>
              <a:t> </a:t>
            </a:r>
            <a:r>
              <a:rPr dirty="0" spc="-170"/>
              <a:t>Leverages</a:t>
            </a:r>
            <a:r>
              <a:rPr dirty="0" spc="70"/>
              <a:t> </a:t>
            </a:r>
            <a:r>
              <a:rPr dirty="0" spc="-80"/>
              <a:t>Full</a:t>
            </a:r>
            <a:r>
              <a:rPr dirty="0" spc="30"/>
              <a:t> </a:t>
            </a:r>
            <a:r>
              <a:rPr dirty="0" spc="-125"/>
              <a:t>Bidirectional</a:t>
            </a:r>
            <a:r>
              <a:rPr dirty="0" spc="30"/>
              <a:t> </a:t>
            </a:r>
            <a:r>
              <a:rPr dirty="0" spc="-30"/>
              <a:t>Con-</a:t>
            </a:r>
            <a:r>
              <a:rPr dirty="0" spc="-20"/>
              <a:t>text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579761"/>
            <a:ext cx="5760085" cy="5080"/>
            <a:chOff x="0" y="579761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582294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579761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579761"/>
              <a:ext cx="1920239" cy="5080"/>
            </a:xfrm>
            <a:custGeom>
              <a:avLst/>
              <a:gdLst/>
              <a:ahLst/>
              <a:cxnLst/>
              <a:rect l="l" t="t" r="r" b="b"/>
              <a:pathLst>
                <a:path w="1920239" h="5079">
                  <a:moveTo>
                    <a:pt x="0" y="5060"/>
                  </a:moveTo>
                  <a:lnTo>
                    <a:pt x="0" y="0"/>
                  </a:lnTo>
                  <a:lnTo>
                    <a:pt x="1919995" y="0"/>
                  </a:lnTo>
                  <a:lnTo>
                    <a:pt x="1919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47332" y="673364"/>
            <a:ext cx="4809490" cy="96901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635"/>
              </a:spcBef>
              <a:buChar char="▪"/>
              <a:tabLst>
                <a:tab pos="187325" algn="l"/>
              </a:tabLst>
            </a:pP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Traditional</a:t>
            </a:r>
            <a:r>
              <a:rPr dirty="0" sz="11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Arial"/>
                <a:cs typeface="Arial"/>
              </a:rPr>
              <a:t>language</a:t>
            </a:r>
            <a:r>
              <a:rPr dirty="0" sz="11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5">
                <a:solidFill>
                  <a:srgbClr val="22373A"/>
                </a:solidFill>
                <a:latin typeface="Arial"/>
                <a:cs typeface="Arial"/>
              </a:rPr>
              <a:t>process</a:t>
            </a:r>
            <a:r>
              <a:rPr dirty="0" sz="11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11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dirty="0" sz="1100" spc="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right.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OpenAI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G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P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65">
                <a:solidFill>
                  <a:srgbClr val="22373A"/>
                </a:solidFill>
                <a:latin typeface="Arial"/>
                <a:cs typeface="Arial"/>
              </a:rPr>
              <a:t>T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restricts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context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token.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har char="▪"/>
              <a:tabLst>
                <a:tab pos="187325" algn="l"/>
              </a:tabLst>
            </a:pP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BERT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introduces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pre-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training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Arial"/>
                <a:cs typeface="Arial"/>
              </a:rPr>
              <a:t>approach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deep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bidirectional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representations.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Unidirectionality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hinders</a:t>
            </a:r>
            <a:r>
              <a:rPr dirty="0" sz="11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full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contextual</a:t>
            </a:r>
            <a:r>
              <a:rPr dirty="0" sz="11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understanding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tasks.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034"/>
                </a:lnTo>
                <a:lnTo>
                  <a:pt x="5759996" y="376034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60"/>
              <a:t>Masked</a:t>
            </a:r>
            <a:r>
              <a:rPr dirty="0" spc="10"/>
              <a:t> </a:t>
            </a:r>
            <a:r>
              <a:rPr dirty="0" spc="-160"/>
              <a:t>Language</a:t>
            </a:r>
            <a:r>
              <a:rPr dirty="0" spc="15"/>
              <a:t> </a:t>
            </a:r>
            <a:r>
              <a:rPr dirty="0" spc="-110"/>
              <a:t>Model</a:t>
            </a:r>
            <a:r>
              <a:rPr dirty="0" spc="15"/>
              <a:t> </a:t>
            </a:r>
            <a:r>
              <a:rPr dirty="0" spc="-150"/>
              <a:t>and</a:t>
            </a:r>
            <a:r>
              <a:rPr dirty="0" spc="15"/>
              <a:t> </a:t>
            </a:r>
            <a:r>
              <a:rPr dirty="0" spc="-135"/>
              <a:t>Next</a:t>
            </a:r>
            <a:r>
              <a:rPr dirty="0" spc="15"/>
              <a:t> </a:t>
            </a:r>
            <a:r>
              <a:rPr dirty="0" spc="-155"/>
              <a:t>Sentence</a:t>
            </a:r>
            <a:r>
              <a:rPr dirty="0" spc="10"/>
              <a:t> </a:t>
            </a:r>
            <a:r>
              <a:rPr dirty="0" spc="-130"/>
              <a:t>Prediction</a:t>
            </a:r>
            <a:r>
              <a:rPr dirty="0" spc="15"/>
              <a:t> </a:t>
            </a:r>
            <a:r>
              <a:rPr dirty="0" spc="-150"/>
              <a:t>Enable</a:t>
            </a:r>
            <a:r>
              <a:rPr dirty="0" spc="15"/>
              <a:t> </a:t>
            </a:r>
            <a:r>
              <a:rPr dirty="0" spc="-110"/>
              <a:t>Bidirectionality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76053"/>
              <a:ext cx="2880360" cy="5080"/>
            </a:xfrm>
            <a:custGeom>
              <a:avLst/>
              <a:gdLst/>
              <a:ahLst/>
              <a:cxnLst/>
              <a:rect l="l" t="t" r="r" b="b"/>
              <a:pathLst>
                <a:path w="2880360" h="5079">
                  <a:moveTo>
                    <a:pt x="0" y="5060"/>
                  </a:moveTo>
                  <a:lnTo>
                    <a:pt x="0" y="0"/>
                  </a:lnTo>
                  <a:lnTo>
                    <a:pt x="2880037" y="0"/>
                  </a:lnTo>
                  <a:lnTo>
                    <a:pt x="28800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47332" y="469656"/>
            <a:ext cx="4807585" cy="120523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635"/>
              </a:spcBef>
              <a:buChar char="▪"/>
              <a:tabLst>
                <a:tab pos="187325" algn="l"/>
              </a:tabLst>
            </a:pP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BERT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pre-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training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involves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65">
                <a:solidFill>
                  <a:srgbClr val="22373A"/>
                </a:solidFill>
                <a:latin typeface="Arial"/>
                <a:cs typeface="Arial"/>
              </a:rPr>
              <a:t>unsupervised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tasks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bidirectionality.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masked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Arial"/>
                <a:cs typeface="Arial"/>
              </a:rPr>
              <a:t>language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masks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fifteen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percent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input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tokens.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har char="▪"/>
              <a:tabLst>
                <a:tab pos="187325" algn="l"/>
              </a:tabLst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predicts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masked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tokens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left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context.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sentence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prediction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trains</a:t>
            </a:r>
            <a:r>
              <a:rPr dirty="0" sz="11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understand</a:t>
            </a:r>
            <a:r>
              <a:rPr dirty="0" sz="11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5">
                <a:solidFill>
                  <a:srgbClr val="22373A"/>
                </a:solidFill>
                <a:latin typeface="Arial"/>
                <a:cs typeface="Arial"/>
              </a:rPr>
              <a:t>sentence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relationships.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har char="▪"/>
              <a:tabLst>
                <a:tab pos="187325" algn="l"/>
              </a:tabLst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task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is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vital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question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Arial"/>
                <a:cs typeface="Arial"/>
              </a:rPr>
              <a:t>answering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natural </a:t>
            </a:r>
            <a:r>
              <a:rPr dirty="0" sz="1100" spc="-70">
                <a:solidFill>
                  <a:srgbClr val="22373A"/>
                </a:solidFill>
                <a:latin typeface="Arial"/>
                <a:cs typeface="Arial"/>
              </a:rPr>
              <a:t>language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inference.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034"/>
                </a:lnTo>
                <a:lnTo>
                  <a:pt x="5759996" y="376034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631" y="76197"/>
            <a:ext cx="459613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5"/>
              <a:t>BERT</a:t>
            </a:r>
            <a:r>
              <a:rPr dirty="0" spc="-15"/>
              <a:t> </a:t>
            </a:r>
            <a:r>
              <a:rPr dirty="0" spc="-175"/>
              <a:t>Achieves</a:t>
            </a:r>
            <a:r>
              <a:rPr dirty="0" spc="35"/>
              <a:t> </a:t>
            </a:r>
            <a:r>
              <a:rPr dirty="0" spc="-170"/>
              <a:t>New</a:t>
            </a:r>
            <a:r>
              <a:rPr dirty="0" spc="35"/>
              <a:t> </a:t>
            </a:r>
            <a:r>
              <a:rPr dirty="0" spc="-95"/>
              <a:t>State-</a:t>
            </a:r>
            <a:r>
              <a:rPr dirty="0" spc="-80"/>
              <a:t>of-</a:t>
            </a:r>
            <a:r>
              <a:rPr dirty="0" spc="-90"/>
              <a:t>the-</a:t>
            </a:r>
            <a:r>
              <a:rPr dirty="0" spc="-65"/>
              <a:t>Art</a:t>
            </a:r>
            <a:r>
              <a:rPr dirty="0" spc="30"/>
              <a:t> </a:t>
            </a:r>
            <a:r>
              <a:rPr dirty="0" spc="-180"/>
              <a:t>Across</a:t>
            </a:r>
            <a:r>
              <a:rPr dirty="0" spc="35"/>
              <a:t> </a:t>
            </a:r>
            <a:r>
              <a:rPr dirty="0" spc="-150"/>
              <a:t>Eleven</a:t>
            </a:r>
            <a:r>
              <a:rPr dirty="0" spc="35"/>
              <a:t> </a:t>
            </a:r>
            <a:r>
              <a:rPr dirty="0"/>
              <a:t>N</a:t>
            </a:r>
            <a:r>
              <a:rPr dirty="0" spc="25"/>
              <a:t> </a:t>
            </a:r>
            <a:r>
              <a:rPr dirty="0"/>
              <a:t>L</a:t>
            </a:r>
            <a:r>
              <a:rPr dirty="0" spc="25"/>
              <a:t> </a:t>
            </a:r>
            <a:r>
              <a:rPr dirty="0"/>
              <a:t>P</a:t>
            </a:r>
            <a:r>
              <a:rPr dirty="0" spc="25"/>
              <a:t> </a:t>
            </a:r>
            <a:r>
              <a:rPr dirty="0" spc="-130"/>
              <a:t>Tasks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76053"/>
              <a:ext cx="3840479" cy="5080"/>
            </a:xfrm>
            <a:custGeom>
              <a:avLst/>
              <a:gdLst/>
              <a:ahLst/>
              <a:cxnLst/>
              <a:rect l="l" t="t" r="r" b="b"/>
              <a:pathLst>
                <a:path w="3840479" h="5079">
                  <a:moveTo>
                    <a:pt x="0" y="5060"/>
                  </a:moveTo>
                  <a:lnTo>
                    <a:pt x="0" y="0"/>
                  </a:lnTo>
                  <a:lnTo>
                    <a:pt x="3840078" y="0"/>
                  </a:lnTo>
                  <a:lnTo>
                    <a:pt x="3840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6690" marR="514984" indent="-174625">
              <a:lnSpc>
                <a:spcPct val="118000"/>
              </a:lnSpc>
              <a:spcBef>
                <a:spcPts val="100"/>
              </a:spcBef>
              <a:buChar char="▪"/>
              <a:tabLst>
                <a:tab pos="189230" algn="l"/>
              </a:tabLst>
            </a:pPr>
            <a:r>
              <a:rPr dirty="0" spc="-45"/>
              <a:t>BERTLARGE</a:t>
            </a:r>
            <a:r>
              <a:rPr dirty="0" spc="-30"/>
              <a:t> </a:t>
            </a:r>
            <a:r>
              <a:rPr dirty="0" spc="-65"/>
              <a:t>achieved</a:t>
            </a:r>
            <a:r>
              <a:rPr dirty="0" spc="-10"/>
              <a:t> </a:t>
            </a:r>
            <a:r>
              <a:rPr dirty="0" spc="-20"/>
              <a:t>an</a:t>
            </a:r>
            <a:r>
              <a:rPr dirty="0" spc="-40"/>
              <a:t> </a:t>
            </a:r>
            <a:r>
              <a:rPr dirty="0" spc="-25"/>
              <a:t>eighty</a:t>
            </a:r>
            <a:r>
              <a:rPr dirty="0" spc="-15"/>
              <a:t> </a:t>
            </a:r>
            <a:r>
              <a:rPr dirty="0"/>
              <a:t>point</a:t>
            </a:r>
            <a:r>
              <a:rPr dirty="0" spc="-20"/>
              <a:t> </a:t>
            </a:r>
            <a:r>
              <a:rPr dirty="0" spc="-10"/>
              <a:t>five</a:t>
            </a:r>
            <a:r>
              <a:rPr dirty="0" spc="-20"/>
              <a:t> </a:t>
            </a:r>
            <a:r>
              <a:rPr dirty="0" spc="-35"/>
              <a:t>percent</a:t>
            </a:r>
            <a:r>
              <a:rPr dirty="0" spc="-15"/>
              <a:t> </a:t>
            </a:r>
            <a:r>
              <a:rPr dirty="0" spc="-80"/>
              <a:t>score</a:t>
            </a:r>
            <a:r>
              <a:rPr dirty="0" spc="5"/>
              <a:t> </a:t>
            </a:r>
            <a:r>
              <a:rPr dirty="0"/>
              <a:t>on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G</a:t>
            </a:r>
            <a:r>
              <a:rPr dirty="0" spc="-20"/>
              <a:t> </a:t>
            </a:r>
            <a:r>
              <a:rPr dirty="0"/>
              <a:t>L</a:t>
            </a:r>
            <a:r>
              <a:rPr dirty="0" spc="-20"/>
              <a:t> </a:t>
            </a:r>
            <a:r>
              <a:rPr dirty="0"/>
              <a:t>U</a:t>
            </a:r>
            <a:r>
              <a:rPr dirty="0" spc="-15"/>
              <a:t> </a:t>
            </a:r>
            <a:r>
              <a:rPr dirty="0" spc="-50"/>
              <a:t>E </a:t>
            </a:r>
            <a:r>
              <a:rPr dirty="0" spc="-50"/>
              <a:t>	</a:t>
            </a:r>
            <a:r>
              <a:rPr dirty="0" spc="-10"/>
              <a:t>benchmark.</a:t>
            </a: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/>
              <a:t>This</a:t>
            </a:r>
            <a:r>
              <a:rPr dirty="0" spc="-75"/>
              <a:t> </a:t>
            </a:r>
            <a:r>
              <a:rPr dirty="0" spc="-85"/>
              <a:t>score</a:t>
            </a:r>
            <a:r>
              <a:rPr dirty="0" spc="10"/>
              <a:t> </a:t>
            </a:r>
            <a:r>
              <a:rPr dirty="0" spc="-65"/>
              <a:t>represents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0"/>
              <a:t>seven</a:t>
            </a:r>
            <a:r>
              <a:rPr dirty="0" spc="25"/>
              <a:t> </a:t>
            </a:r>
            <a:r>
              <a:rPr dirty="0"/>
              <a:t>point</a:t>
            </a:r>
            <a:r>
              <a:rPr dirty="0" spc="-5"/>
              <a:t> </a:t>
            </a:r>
            <a:r>
              <a:rPr dirty="0" spc="-100"/>
              <a:t>seven</a:t>
            </a:r>
            <a:r>
              <a:rPr dirty="0" spc="25"/>
              <a:t> </a:t>
            </a:r>
            <a:r>
              <a:rPr dirty="0"/>
              <a:t>point</a:t>
            </a:r>
            <a:r>
              <a:rPr dirty="0" spc="-5"/>
              <a:t> </a:t>
            </a:r>
            <a:r>
              <a:rPr dirty="0" spc="-45"/>
              <a:t>absolute</a:t>
            </a:r>
            <a:r>
              <a:rPr dirty="0" spc="-5"/>
              <a:t> </a:t>
            </a:r>
            <a:r>
              <a:rPr dirty="0" spc="-40"/>
              <a:t>improvement</a:t>
            </a:r>
            <a:r>
              <a:rPr dirty="0" spc="-5"/>
              <a:t> </a:t>
            </a:r>
            <a:r>
              <a:rPr dirty="0" spc="-20"/>
              <a:t>on</a:t>
            </a:r>
            <a:r>
              <a:rPr dirty="0" spc="-5"/>
              <a:t> </a:t>
            </a:r>
            <a:r>
              <a:rPr dirty="0" spc="-130"/>
              <a:t>G</a:t>
            </a:r>
            <a:r>
              <a:rPr dirty="0" spc="35"/>
              <a:t> </a:t>
            </a:r>
            <a:r>
              <a:rPr dirty="0"/>
              <a:t>L</a:t>
            </a:r>
            <a:r>
              <a:rPr dirty="0" spc="-5"/>
              <a:t> </a:t>
            </a:r>
            <a:r>
              <a:rPr dirty="0"/>
              <a:t>U</a:t>
            </a:r>
            <a:r>
              <a:rPr dirty="0" spc="-5"/>
              <a:t> </a:t>
            </a:r>
            <a:r>
              <a:rPr dirty="0" spc="-25"/>
              <a:t>E.</a:t>
            </a:r>
          </a:p>
          <a:p>
            <a:pPr marL="186690" marR="66675" indent="-174625">
              <a:lnSpc>
                <a:spcPct val="118000"/>
              </a:lnSpc>
              <a:spcBef>
                <a:spcPts val="295"/>
              </a:spcBef>
              <a:buChar char="▪"/>
              <a:tabLst>
                <a:tab pos="189230" algn="l"/>
              </a:tabLst>
            </a:pPr>
            <a:r>
              <a:rPr dirty="0" spc="-45"/>
              <a:t>BERTLARGE</a:t>
            </a:r>
            <a:r>
              <a:rPr dirty="0" spc="-30"/>
              <a:t> </a:t>
            </a:r>
            <a:r>
              <a:rPr dirty="0" spc="-65"/>
              <a:t>reached</a:t>
            </a:r>
            <a:r>
              <a:rPr dirty="0" spc="-1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spc="-25"/>
              <a:t>ninety</a:t>
            </a:r>
            <a:r>
              <a:rPr dirty="0" spc="-15"/>
              <a:t> </a:t>
            </a:r>
            <a:r>
              <a:rPr dirty="0" spc="-30"/>
              <a:t>three</a:t>
            </a:r>
            <a:r>
              <a:rPr dirty="0" spc="-15"/>
              <a:t> </a:t>
            </a:r>
            <a:r>
              <a:rPr dirty="0"/>
              <a:t>point</a:t>
            </a:r>
            <a:r>
              <a:rPr dirty="0" spc="-15"/>
              <a:t> </a:t>
            </a:r>
            <a:r>
              <a:rPr dirty="0"/>
              <a:t>two</a:t>
            </a:r>
            <a:r>
              <a:rPr dirty="0" spc="-15"/>
              <a:t> </a:t>
            </a:r>
            <a:r>
              <a:rPr dirty="0"/>
              <a:t>F</a:t>
            </a:r>
            <a:r>
              <a:rPr dirty="0" spc="-15"/>
              <a:t> </a:t>
            </a:r>
            <a:r>
              <a:rPr dirty="0" spc="-65"/>
              <a:t>one</a:t>
            </a:r>
            <a:r>
              <a:rPr dirty="0" spc="-10"/>
              <a:t> </a:t>
            </a:r>
            <a:r>
              <a:rPr dirty="0" spc="-80"/>
              <a:t>score</a:t>
            </a:r>
            <a:r>
              <a:rPr dirty="0" spc="5"/>
              <a:t> </a:t>
            </a:r>
            <a:r>
              <a:rPr dirty="0"/>
              <a:t>on</a:t>
            </a:r>
            <a:r>
              <a:rPr dirty="0" spc="-20"/>
              <a:t> </a:t>
            </a:r>
            <a:r>
              <a:rPr dirty="0" spc="-35"/>
              <a:t>SQuAD</a:t>
            </a:r>
            <a:r>
              <a:rPr dirty="0" spc="-15"/>
              <a:t> </a:t>
            </a:r>
            <a:r>
              <a:rPr dirty="0" spc="-65"/>
              <a:t>one</a:t>
            </a:r>
            <a:r>
              <a:rPr dirty="0" spc="-10"/>
              <a:t> point </a:t>
            </a:r>
            <a:r>
              <a:rPr dirty="0" spc="-10"/>
              <a:t>	</a:t>
            </a:r>
            <a:r>
              <a:rPr dirty="0" spc="-20"/>
              <a:t>one.</a:t>
            </a: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/>
              <a:t>It</a:t>
            </a:r>
            <a:r>
              <a:rPr dirty="0" spc="-10"/>
              <a:t> </a:t>
            </a:r>
            <a:r>
              <a:rPr dirty="0" spc="-55"/>
              <a:t>also</a:t>
            </a:r>
            <a:r>
              <a:rPr dirty="0" spc="-5"/>
              <a:t> </a:t>
            </a:r>
            <a:r>
              <a:rPr dirty="0" spc="-65"/>
              <a:t>achieved</a:t>
            </a:r>
            <a:r>
              <a:rPr dirty="0"/>
              <a:t> </a:t>
            </a:r>
            <a:r>
              <a:rPr dirty="0" spc="-20"/>
              <a:t>an</a:t>
            </a:r>
            <a:r>
              <a:rPr dirty="0" spc="-5"/>
              <a:t> </a:t>
            </a:r>
            <a:r>
              <a:rPr dirty="0" spc="-25"/>
              <a:t>eighty</a:t>
            </a:r>
            <a:r>
              <a:rPr dirty="0"/>
              <a:t> </a:t>
            </a:r>
            <a:r>
              <a:rPr dirty="0" spc="-30"/>
              <a:t>three</a:t>
            </a:r>
            <a:r>
              <a:rPr dirty="0" spc="-5"/>
              <a:t> </a:t>
            </a:r>
            <a:r>
              <a:rPr dirty="0"/>
              <a:t>point </a:t>
            </a:r>
            <a:r>
              <a:rPr dirty="0" spc="-65"/>
              <a:t>one</a:t>
            </a:r>
            <a:r>
              <a:rPr dirty="0" spc="-5"/>
              <a:t> </a:t>
            </a:r>
            <a:r>
              <a:rPr dirty="0"/>
              <a:t>F </a:t>
            </a:r>
            <a:r>
              <a:rPr dirty="0" spc="-65"/>
              <a:t>one</a:t>
            </a:r>
            <a:r>
              <a:rPr dirty="0" spc="-5"/>
              <a:t> </a:t>
            </a:r>
            <a:r>
              <a:rPr dirty="0" spc="-80"/>
              <a:t>score</a:t>
            </a:r>
            <a:r>
              <a:rPr dirty="0" spc="5"/>
              <a:t> </a:t>
            </a:r>
            <a:r>
              <a:rPr dirty="0"/>
              <a:t>on </a:t>
            </a:r>
            <a:r>
              <a:rPr dirty="0" spc="-40"/>
              <a:t>SQuAD</a:t>
            </a:r>
            <a:r>
              <a:rPr dirty="0" spc="-5"/>
              <a:t> </a:t>
            </a:r>
            <a:r>
              <a:rPr dirty="0"/>
              <a:t>two point </a:t>
            </a:r>
            <a:r>
              <a:rPr dirty="0" spc="-10"/>
              <a:t>zero.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034"/>
                </a:lnTo>
                <a:lnTo>
                  <a:pt x="5759996" y="376034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631" y="76197"/>
            <a:ext cx="478218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Bidirectional</a:t>
            </a:r>
            <a:r>
              <a:rPr dirty="0" spc="60"/>
              <a:t> </a:t>
            </a:r>
            <a:r>
              <a:rPr dirty="0" spc="-110"/>
              <a:t>Pre-</a:t>
            </a:r>
            <a:r>
              <a:rPr dirty="0" spc="-100"/>
              <a:t>training</a:t>
            </a:r>
            <a:r>
              <a:rPr dirty="0" spc="60"/>
              <a:t> </a:t>
            </a:r>
            <a:r>
              <a:rPr dirty="0" spc="-150"/>
              <a:t>and</a:t>
            </a:r>
            <a:r>
              <a:rPr dirty="0" spc="65"/>
              <a:t> </a:t>
            </a:r>
            <a:r>
              <a:rPr dirty="0" spc="-95"/>
              <a:t>Model</a:t>
            </a:r>
            <a:r>
              <a:rPr dirty="0" spc="60"/>
              <a:t> </a:t>
            </a:r>
            <a:r>
              <a:rPr dirty="0" spc="-170"/>
              <a:t>Scale</a:t>
            </a:r>
            <a:r>
              <a:rPr dirty="0" spc="65"/>
              <a:t> </a:t>
            </a:r>
            <a:r>
              <a:rPr dirty="0" spc="-100"/>
              <a:t>Drive</a:t>
            </a:r>
            <a:r>
              <a:rPr dirty="0" spc="60"/>
              <a:t> </a:t>
            </a:r>
            <a:r>
              <a:rPr dirty="0" spc="-150"/>
              <a:t>Performance</a:t>
            </a:r>
            <a:r>
              <a:rPr dirty="0" spc="65"/>
              <a:t> </a:t>
            </a:r>
            <a:r>
              <a:rPr dirty="0" spc="-110"/>
              <a:t>Gains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76053"/>
              <a:ext cx="4800600" cy="5080"/>
            </a:xfrm>
            <a:custGeom>
              <a:avLst/>
              <a:gdLst/>
              <a:ahLst/>
              <a:cxnLst/>
              <a:rect l="l" t="t" r="r" b="b"/>
              <a:pathLst>
                <a:path w="4800600" h="5079">
                  <a:moveTo>
                    <a:pt x="0" y="5060"/>
                  </a:moveTo>
                  <a:lnTo>
                    <a:pt x="0" y="0"/>
                  </a:lnTo>
                  <a:lnTo>
                    <a:pt x="4800032" y="0"/>
                  </a:lnTo>
                  <a:lnTo>
                    <a:pt x="48000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47332" y="469656"/>
            <a:ext cx="4810125" cy="140271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635"/>
              </a:spcBef>
              <a:buChar char="▪"/>
              <a:tabLst>
                <a:tab pos="187325" algn="l"/>
              </a:tabLst>
            </a:pP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Ablation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studies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highlight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critical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role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sentence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prediction.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 sz="1100" spc="-55">
                <a:solidFill>
                  <a:srgbClr val="22373A"/>
                </a:solidFill>
                <a:latin typeface="Arial"/>
                <a:cs typeface="Arial"/>
              </a:rPr>
              <a:t>Removing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sentence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prediction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hurts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Q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L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M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N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L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I.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har char="▪"/>
              <a:tabLst>
                <a:tab pos="187325" algn="l"/>
              </a:tabLst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left-to-right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performs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5">
                <a:solidFill>
                  <a:srgbClr val="22373A"/>
                </a:solidFill>
                <a:latin typeface="Arial"/>
                <a:cs typeface="Arial"/>
              </a:rPr>
              <a:t>worse</a:t>
            </a:r>
            <a:r>
              <a:rPr dirty="0" sz="1100" spc="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masked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Arial"/>
                <a:cs typeface="Arial"/>
              </a:rPr>
              <a:t>language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model.</a:t>
            </a:r>
            <a:endParaRPr sz="1100">
              <a:latin typeface="Arial"/>
              <a:cs typeface="Arial"/>
            </a:endParaRPr>
          </a:p>
          <a:p>
            <a:pPr marL="186690" marR="268605" indent="-174625">
              <a:lnSpc>
                <a:spcPct val="118000"/>
              </a:lnSpc>
              <a:spcBef>
                <a:spcPts val="300"/>
              </a:spcBef>
              <a:buChar char="▪"/>
              <a:tabLst>
                <a:tab pos="189230" algn="l"/>
              </a:tabLst>
            </a:pP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BERTLARGE,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three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hundred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forty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million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parameters,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yields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accuracy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improvements.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Larger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Arial"/>
                <a:cs typeface="Arial"/>
              </a:rPr>
              <a:t>models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consistently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yield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Arial"/>
                <a:cs typeface="Arial"/>
              </a:rPr>
              <a:t>accuracy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improvements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all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datasets.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76555"/>
          </a:xfrm>
          <a:custGeom>
            <a:avLst/>
            <a:gdLst/>
            <a:ahLst/>
            <a:cxnLst/>
            <a:rect l="l" t="t" r="r" b="b"/>
            <a:pathLst>
              <a:path w="5760085" h="376555">
                <a:moveTo>
                  <a:pt x="5759996" y="0"/>
                </a:moveTo>
                <a:lnTo>
                  <a:pt x="0" y="0"/>
                </a:lnTo>
                <a:lnTo>
                  <a:pt x="0" y="376034"/>
                </a:lnTo>
                <a:lnTo>
                  <a:pt x="5759996" y="376034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Deep</a:t>
            </a:r>
            <a:r>
              <a:rPr dirty="0" spc="40"/>
              <a:t> </a:t>
            </a:r>
            <a:r>
              <a:rPr dirty="0" spc="-130"/>
              <a:t>Bidirectional</a:t>
            </a:r>
            <a:r>
              <a:rPr dirty="0" spc="45"/>
              <a:t> </a:t>
            </a:r>
            <a:r>
              <a:rPr dirty="0" spc="-110"/>
              <a:t>Pre-</a:t>
            </a:r>
            <a:r>
              <a:rPr dirty="0" spc="-100"/>
              <a:t>training</a:t>
            </a:r>
            <a:r>
              <a:rPr dirty="0" spc="45"/>
              <a:t> </a:t>
            </a:r>
            <a:r>
              <a:rPr dirty="0" spc="-155"/>
              <a:t>Generalizes</a:t>
            </a:r>
            <a:r>
              <a:rPr dirty="0" spc="45"/>
              <a:t> </a:t>
            </a:r>
            <a:r>
              <a:rPr dirty="0" spc="-180"/>
              <a:t>Across</a:t>
            </a:r>
            <a:r>
              <a:rPr dirty="0" spc="40"/>
              <a:t> </a:t>
            </a:r>
            <a:r>
              <a:rPr dirty="0" spc="-140"/>
              <a:t>Diverse</a:t>
            </a:r>
            <a:r>
              <a:rPr dirty="0" spc="45"/>
              <a:t> </a:t>
            </a:r>
            <a:r>
              <a:rPr dirty="0"/>
              <a:t>N</a:t>
            </a:r>
            <a:r>
              <a:rPr dirty="0" spc="45"/>
              <a:t> </a:t>
            </a:r>
            <a:r>
              <a:rPr dirty="0"/>
              <a:t>L</a:t>
            </a:r>
            <a:r>
              <a:rPr dirty="0" spc="45"/>
              <a:t> </a:t>
            </a:r>
            <a:r>
              <a:rPr dirty="0"/>
              <a:t>P</a:t>
            </a:r>
            <a:r>
              <a:rPr dirty="0" spc="40"/>
              <a:t> </a:t>
            </a:r>
            <a:r>
              <a:rPr dirty="0" spc="-135"/>
              <a:t>Tasks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76053"/>
            <a:ext cx="5760085" cy="5080"/>
            <a:chOff x="0" y="37605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7858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 h="0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37605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47332" y="507616"/>
            <a:ext cx="4886325" cy="1364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690" marR="344805" indent="-174625">
              <a:lnSpc>
                <a:spcPct val="118000"/>
              </a:lnSpc>
              <a:spcBef>
                <a:spcPts val="100"/>
              </a:spcBef>
              <a:buChar char="▪"/>
              <a:tabLst>
                <a:tab pos="189230" algn="l"/>
              </a:tabLst>
            </a:pP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BERT </a:t>
            </a:r>
            <a:r>
              <a:rPr dirty="0" sz="1100" spc="-55">
                <a:solidFill>
                  <a:srgbClr val="22373A"/>
                </a:solidFill>
                <a:latin typeface="Arial"/>
                <a:cs typeface="Arial"/>
              </a:rPr>
              <a:t>demonstrates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rich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65">
                <a:solidFill>
                  <a:srgbClr val="22373A"/>
                </a:solidFill>
                <a:latin typeface="Arial"/>
                <a:cs typeface="Arial"/>
              </a:rPr>
              <a:t>unsupervised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pre-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training is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Arial"/>
                <a:cs typeface="Arial"/>
              </a:rPr>
              <a:t>essential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language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understanding.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BERT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Arial"/>
                <a:cs typeface="Arial"/>
              </a:rPr>
              <a:t>generalizes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deep</a:t>
            </a:r>
            <a:r>
              <a:rPr dirty="0" sz="11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bidirectional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architectures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2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60">
                <a:solidFill>
                  <a:srgbClr val="22373A"/>
                </a:solidFill>
                <a:latin typeface="Arial"/>
                <a:cs typeface="Arial"/>
              </a:rPr>
              <a:t>language</a:t>
            </a:r>
            <a:r>
              <a:rPr dirty="0" sz="1100" spc="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understanding.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har char="▪"/>
              <a:tabLst>
                <a:tab pos="187325" algn="l"/>
              </a:tabLst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pre-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trained</a:t>
            </a:r>
            <a:r>
              <a:rPr dirty="0" sz="11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model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5">
                <a:solidFill>
                  <a:srgbClr val="22373A"/>
                </a:solidFill>
                <a:latin typeface="Arial"/>
                <a:cs typeface="Arial"/>
              </a:rPr>
              <a:t>achieves</a:t>
            </a:r>
            <a:r>
              <a:rPr dirty="0" sz="1100" spc="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state-of-the-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art</a:t>
            </a:r>
            <a:r>
              <a:rPr dirty="0" sz="1100" spc="3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performance.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har char="▪"/>
              <a:tabLst>
                <a:tab pos="187325" algn="l"/>
              </a:tabLst>
            </a:pP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BERT </a:t>
            </a:r>
            <a:r>
              <a:rPr dirty="0" sz="1100" spc="-40">
                <a:solidFill>
                  <a:srgbClr val="22373A"/>
                </a:solidFill>
                <a:latin typeface="Arial"/>
                <a:cs typeface="Arial"/>
              </a:rPr>
              <a:t>performs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2373A"/>
                </a:solidFill>
                <a:latin typeface="Arial"/>
                <a:cs typeface="Arial"/>
              </a:rPr>
              <a:t>well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5">
                <a:solidFill>
                  <a:srgbClr val="22373A"/>
                </a:solidFill>
                <a:latin typeface="Arial"/>
                <a:cs typeface="Arial"/>
              </a:rPr>
              <a:t>sentence-</a:t>
            </a:r>
            <a:r>
              <a:rPr dirty="0" sz="1100" spc="-50">
                <a:solidFill>
                  <a:srgbClr val="22373A"/>
                </a:solidFill>
                <a:latin typeface="Arial"/>
                <a:cs typeface="Arial"/>
              </a:rPr>
              <a:t>level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45">
                <a:solidFill>
                  <a:srgbClr val="22373A"/>
                </a:solidFill>
                <a:latin typeface="Arial"/>
                <a:cs typeface="Arial"/>
              </a:rPr>
              <a:t>token-level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challenges.</a:t>
            </a:r>
            <a:endParaRPr sz="11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har char="▪"/>
              <a:tabLst>
                <a:tab pos="187325" algn="l"/>
              </a:tabLst>
            </a:pP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dirty="0" sz="1100" spc="-3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Arial"/>
                <a:cs typeface="Arial"/>
              </a:rPr>
              <a:t>approach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70">
                <a:solidFill>
                  <a:srgbClr val="22373A"/>
                </a:solidFill>
                <a:latin typeface="Arial"/>
                <a:cs typeface="Arial"/>
              </a:rPr>
              <a:t>reduces</a:t>
            </a:r>
            <a:r>
              <a:rPr dirty="0" sz="1100" spc="-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80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dirty="0" sz="1100" spc="5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22373A"/>
                </a:solidFill>
                <a:latin typeface="Arial"/>
                <a:cs typeface="Arial"/>
              </a:rPr>
              <a:t>task-</a:t>
            </a:r>
            <a:r>
              <a:rPr dirty="0" sz="1100" spc="-30">
                <a:solidFill>
                  <a:srgbClr val="22373A"/>
                </a:solidFill>
                <a:latin typeface="Arial"/>
                <a:cs typeface="Arial"/>
              </a:rPr>
              <a:t>specific</a:t>
            </a:r>
            <a:r>
              <a:rPr dirty="0" sz="1100" spc="-10">
                <a:solidFill>
                  <a:srgbClr val="22373A"/>
                </a:solidFill>
                <a:latin typeface="Arial"/>
                <a:cs typeface="Arial"/>
              </a:rPr>
              <a:t> architectures.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dirty="0" spc="-25"/>
              <a:t>1</a:t>
            </a:fld>
            <a:r>
              <a:rPr dirty="0" spc="-25"/>
              <a:t>/6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Jacob Devlin et al.</dc:creator>
  <dc:title>BERT: Pre-training of Deep Bidirectional Transformers for Language Understanding</dc:title>
  <dcterms:created xsi:type="dcterms:W3CDTF">2026-10-12T13:44:33Z</dcterms:created>
  <dcterms:modified xsi:type="dcterms:W3CDTF">2026-10-12T13:44:33Z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2026-10-12T00:00:00Z</vt:filetime>
  </property>
  <property fmtid="{D5CDD505-2E9C-101B-9397-08002B2CF9AE}" pid="4" name="Creator">
    <vt:lpwstr>LaTeX with Beamer class</vt:lpwstr>
  </property>
  <property fmtid="{D5CDD505-2E9C-101B-9397-08002B2CF9AE}" pid="5" name="Producer">
    <vt:lpwstr>xdvipdfmx (20240305)</vt:lpwstr>
  </property>
  <property fmtid="{D5CDD505-2E9C-101B-9397-08002B2CF9AE}" pid="6" name="LastSaved">
    <vt:filetime>2026-10-12T00:00:00Z</vt:filetime>
  </property>
</Properties>
</file>