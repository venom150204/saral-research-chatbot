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034"/>
                </a:lnTo>
                <a:lnTo>
                  <a:pt x="5759996" y="376034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6197"/>
            <a:ext cx="515874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332" y="506092"/>
            <a:ext cx="4942840" cy="1367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4139" y="2950381"/>
            <a:ext cx="275589" cy="173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1108173"/>
            <a:ext cx="220281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5">
                <a:solidFill>
                  <a:srgbClr val="22373A"/>
                </a:solidFill>
                <a:latin typeface="Arial Black"/>
                <a:cs typeface="Arial Black"/>
              </a:rPr>
              <a:t>Attention</a:t>
            </a:r>
            <a:r>
              <a:rPr dirty="0" sz="1400" spc="-1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400" spc="-160">
                <a:solidFill>
                  <a:srgbClr val="22373A"/>
                </a:solidFill>
                <a:latin typeface="Arial Black"/>
                <a:cs typeface="Arial Black"/>
              </a:rPr>
              <a:t>Is</a:t>
            </a:r>
            <a:r>
              <a:rPr dirty="0" sz="14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22373A"/>
                </a:solidFill>
                <a:latin typeface="Arial Black"/>
                <a:cs typeface="Arial Black"/>
              </a:rPr>
              <a:t>All</a:t>
            </a:r>
            <a:r>
              <a:rPr dirty="0" sz="1400" spc="1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22373A"/>
                </a:solidFill>
                <a:latin typeface="Arial Black"/>
                <a:cs typeface="Arial Black"/>
              </a:rPr>
              <a:t>You</a:t>
            </a:r>
            <a:r>
              <a:rPr dirty="0" sz="1400" spc="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22373A"/>
                </a:solidFill>
                <a:latin typeface="Arial Black"/>
                <a:cs typeface="Arial Black"/>
              </a:rPr>
              <a:t>Need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1586985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1880481"/>
            <a:ext cx="11518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Ashish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Vaswani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et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al.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50628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Tr</a:t>
            </a:r>
            <a:r>
              <a:rPr dirty="0" spc="-145"/>
              <a:t>ansf</a:t>
            </a:r>
            <a:r>
              <a:rPr dirty="0" spc="-145"/>
              <a:t>ormer</a:t>
            </a:r>
            <a:r>
              <a:rPr dirty="0" spc="95"/>
              <a:t> </a:t>
            </a:r>
            <a:r>
              <a:rPr dirty="0" spc="-140"/>
              <a:t>Architecture</a:t>
            </a:r>
            <a:r>
              <a:rPr dirty="0" spc="100"/>
              <a:t> </a:t>
            </a:r>
            <a:r>
              <a:rPr dirty="0" spc="-175"/>
              <a:t>Replaces</a:t>
            </a:r>
            <a:r>
              <a:rPr dirty="0" spc="95"/>
              <a:t> </a:t>
            </a:r>
            <a:r>
              <a:rPr dirty="0" spc="-155"/>
              <a:t>Recurrence,</a:t>
            </a:r>
            <a:r>
              <a:rPr dirty="0" spc="100"/>
              <a:t> </a:t>
            </a:r>
            <a:r>
              <a:rPr dirty="0" spc="-130"/>
              <a:t>Enabling</a:t>
            </a:r>
            <a:r>
              <a:rPr dirty="0" spc="95"/>
              <a:t> </a:t>
            </a:r>
            <a:r>
              <a:rPr dirty="0" spc="-150"/>
              <a:t>Faster</a:t>
            </a:r>
            <a:r>
              <a:rPr dirty="0" spc="100"/>
              <a:t> </a:t>
            </a:r>
            <a:r>
              <a:rPr dirty="0" spc="-9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79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47332" y="506092"/>
            <a:ext cx="4852035" cy="136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448309" indent="-177165">
              <a:lnSpc>
                <a:spcPct val="118000"/>
              </a:lnSpc>
              <a:spcBef>
                <a:spcPts val="100"/>
              </a:spcBef>
              <a:buChar char="▪"/>
              <a:tabLst>
                <a:tab pos="189230" algn="l"/>
              </a:tabLst>
            </a:pP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Recurrent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neural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networks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limit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parallelization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due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to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inherent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sequential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computation.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mechanisms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typically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augment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recurrent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structures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existing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models.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Transformer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replaces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recurrence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convolutions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attention.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architecture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allows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much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greater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parallelization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for </a:t>
            </a:r>
            <a:r>
              <a:rPr dirty="0" sz="1100" spc="-65">
                <a:solidFill>
                  <a:srgbClr val="22373A"/>
                </a:solidFill>
                <a:latin typeface="Tahoma"/>
                <a:cs typeface="Tahoma"/>
              </a:rPr>
              <a:t>sequence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models.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Transformer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enables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significantly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faster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training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Tahoma"/>
                <a:cs typeface="Tahoma"/>
              </a:rPr>
              <a:t>sequence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tasks.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Multi-</a:t>
            </a:r>
            <a:r>
              <a:rPr dirty="0" spc="-100"/>
              <a:t>Head</a:t>
            </a:r>
            <a:r>
              <a:rPr dirty="0" spc="60"/>
              <a:t> </a:t>
            </a:r>
            <a:r>
              <a:rPr dirty="0" spc="-114"/>
              <a:t>Attention</a:t>
            </a:r>
            <a:r>
              <a:rPr dirty="0" spc="60"/>
              <a:t> </a:t>
            </a:r>
            <a:r>
              <a:rPr dirty="0" spc="-165"/>
              <a:t>Forms</a:t>
            </a:r>
            <a:r>
              <a:rPr dirty="0" spc="60"/>
              <a:t> </a:t>
            </a:r>
            <a:r>
              <a:rPr dirty="0" spc="-125"/>
              <a:t>the</a:t>
            </a:r>
            <a:r>
              <a:rPr dirty="0" spc="65"/>
              <a:t> </a:t>
            </a:r>
            <a:r>
              <a:rPr dirty="0" spc="-140"/>
              <a:t>Transformer’s</a:t>
            </a:r>
            <a:r>
              <a:rPr dirty="0" spc="60"/>
              <a:t> </a:t>
            </a:r>
            <a:r>
              <a:rPr dirty="0" spc="-120"/>
              <a:t>Core,</a:t>
            </a:r>
            <a:r>
              <a:rPr dirty="0" spc="60"/>
              <a:t> </a:t>
            </a:r>
            <a:r>
              <a:rPr dirty="0" spc="-130"/>
              <a:t>Enabling</a:t>
            </a:r>
            <a:r>
              <a:rPr dirty="0" spc="60"/>
              <a:t> </a:t>
            </a:r>
            <a:r>
              <a:rPr dirty="0" spc="-120"/>
              <a:t>Parallelism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47332" y="507616"/>
            <a:ext cx="4606925" cy="136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46990" indent="-177165">
              <a:lnSpc>
                <a:spcPct val="118000"/>
              </a:lnSpc>
              <a:spcBef>
                <a:spcPts val="100"/>
              </a:spcBef>
              <a:buChar char="▪"/>
              <a:tabLst>
                <a:tab pos="18923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Transformer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adopts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standard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encoder-decoder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structure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sequence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transduction.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Both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encoder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decoder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consist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six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identical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layers.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layer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features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multi-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head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self-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feed-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forward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network.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Multi-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head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runs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eight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parallel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layers.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Sinusoidal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positional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encodings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convey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Tahoma"/>
                <a:cs typeface="Tahoma"/>
              </a:rPr>
              <a:t>sequence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order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embeddings.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51219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Tr</a:t>
            </a:r>
            <a:r>
              <a:rPr dirty="0" spc="-145"/>
              <a:t>ansf</a:t>
            </a:r>
            <a:r>
              <a:rPr dirty="0" spc="-145"/>
              <a:t>ormer</a:t>
            </a:r>
            <a:r>
              <a:rPr dirty="0" spc="70"/>
              <a:t> </a:t>
            </a:r>
            <a:r>
              <a:rPr dirty="0" spc="-175"/>
              <a:t>Achieves</a:t>
            </a:r>
            <a:r>
              <a:rPr dirty="0" spc="70"/>
              <a:t> </a:t>
            </a:r>
            <a:r>
              <a:rPr dirty="0" spc="-170"/>
              <a:t>New</a:t>
            </a:r>
            <a:r>
              <a:rPr dirty="0" spc="70"/>
              <a:t> </a:t>
            </a:r>
            <a:r>
              <a:rPr dirty="0" spc="-95"/>
              <a:t>State-</a:t>
            </a:r>
            <a:r>
              <a:rPr dirty="0" spc="-80"/>
              <a:t>of-</a:t>
            </a:r>
            <a:r>
              <a:rPr dirty="0" spc="-90"/>
              <a:t>the-</a:t>
            </a:r>
            <a:r>
              <a:rPr dirty="0" spc="-65"/>
              <a:t>Art</a:t>
            </a:r>
            <a:r>
              <a:rPr dirty="0" spc="70"/>
              <a:t> </a:t>
            </a:r>
            <a:r>
              <a:rPr dirty="0" spc="-80"/>
              <a:t>BLEU</a:t>
            </a:r>
            <a:r>
              <a:rPr dirty="0" spc="70"/>
              <a:t> </a:t>
            </a:r>
            <a:r>
              <a:rPr dirty="0" spc="-185"/>
              <a:t>Scores</a:t>
            </a:r>
            <a:r>
              <a:rPr dirty="0" spc="70"/>
              <a:t> </a:t>
            </a:r>
            <a:r>
              <a:rPr dirty="0" spc="-145"/>
              <a:t>on</a:t>
            </a:r>
            <a:r>
              <a:rPr dirty="0" spc="70"/>
              <a:t> </a:t>
            </a:r>
            <a:r>
              <a:rPr dirty="0"/>
              <a:t>WMT</a:t>
            </a:r>
            <a:r>
              <a:rPr dirty="0" spc="70"/>
              <a:t> </a:t>
            </a:r>
            <a:r>
              <a:rPr dirty="0" spc="-85"/>
              <a:t>2014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3840479" cy="5080"/>
            </a:xfrm>
            <a:custGeom>
              <a:avLst/>
              <a:gdLst/>
              <a:ahLst/>
              <a:cxnLst/>
              <a:rect l="l" t="t" r="r" b="b"/>
              <a:pathLst>
                <a:path w="3840479" h="5079">
                  <a:moveTo>
                    <a:pt x="0" y="5060"/>
                  </a:moveTo>
                  <a:lnTo>
                    <a:pt x="0" y="0"/>
                  </a:lnTo>
                  <a:lnTo>
                    <a:pt x="3840078" y="0"/>
                  </a:lnTo>
                  <a:lnTo>
                    <a:pt x="3840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47332" y="469795"/>
            <a:ext cx="4676775" cy="12052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6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big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Transformer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achieved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28.4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BLEU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22373A"/>
                </a:solidFill>
                <a:latin typeface="Tahoma"/>
                <a:cs typeface="Tahoma"/>
              </a:rPr>
              <a:t>WMT</a:t>
            </a:r>
            <a:r>
              <a:rPr dirty="0" sz="11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2014</a:t>
            </a:r>
            <a:r>
              <a:rPr dirty="0" sz="11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English-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to-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German.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score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outperformed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previous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best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results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over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two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BLEU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points.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big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model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reached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41.8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BLEU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22373A"/>
                </a:solidFill>
                <a:latin typeface="Tahoma"/>
                <a:cs typeface="Tahoma"/>
              </a:rPr>
              <a:t>WMT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2014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English-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to-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French.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Training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took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3.5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days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eight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22373A"/>
                </a:solidFill>
                <a:latin typeface="Tahoma"/>
                <a:cs typeface="Tahoma"/>
              </a:rPr>
              <a:t>P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100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GPUs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big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base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model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surpassed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all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previously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published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models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less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cost.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5"/>
              <a:t>Self-</a:t>
            </a:r>
            <a:r>
              <a:rPr dirty="0" spc="-120"/>
              <a:t>Attention</a:t>
            </a:r>
            <a:r>
              <a:rPr dirty="0" spc="70"/>
              <a:t> </a:t>
            </a:r>
            <a:r>
              <a:rPr dirty="0" spc="-130"/>
              <a:t>Offers</a:t>
            </a:r>
            <a:r>
              <a:rPr dirty="0" spc="75"/>
              <a:t> </a:t>
            </a:r>
            <a:r>
              <a:rPr dirty="0" spc="-125"/>
              <a:t>Computational</a:t>
            </a:r>
            <a:r>
              <a:rPr dirty="0" spc="70"/>
              <a:t> </a:t>
            </a:r>
            <a:r>
              <a:rPr dirty="0" spc="-155"/>
              <a:t>Advantages</a:t>
            </a:r>
            <a:r>
              <a:rPr dirty="0" spc="75"/>
              <a:t> </a:t>
            </a:r>
            <a:r>
              <a:rPr dirty="0" spc="-150"/>
              <a:t>and</a:t>
            </a:r>
            <a:r>
              <a:rPr dirty="0" spc="70"/>
              <a:t> </a:t>
            </a:r>
            <a:r>
              <a:rPr dirty="0" spc="-110"/>
              <a:t>Interpretability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4800600" cy="5080"/>
            </a:xfrm>
            <a:custGeom>
              <a:avLst/>
              <a:gdLst/>
              <a:ahLst/>
              <a:cxnLst/>
              <a:rect l="l" t="t" r="r" b="b"/>
              <a:pathLst>
                <a:path w="4800600" h="5079">
                  <a:moveTo>
                    <a:pt x="0" y="5060"/>
                  </a:moveTo>
                  <a:lnTo>
                    <a:pt x="0" y="0"/>
                  </a:lnTo>
                  <a:lnTo>
                    <a:pt x="4800032" y="0"/>
                  </a:lnTo>
                  <a:lnTo>
                    <a:pt x="48000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9230" marR="248920" indent="-177165">
              <a:lnSpc>
                <a:spcPct val="118000"/>
              </a:lnSpc>
              <a:spcBef>
                <a:spcPts val="100"/>
              </a:spcBef>
              <a:buChar char="▪"/>
              <a:tabLst>
                <a:tab pos="189230" algn="l"/>
              </a:tabLst>
            </a:pPr>
            <a:r>
              <a:rPr dirty="0" spc="-35"/>
              <a:t>Self-</a:t>
            </a:r>
            <a:r>
              <a:rPr dirty="0" spc="-25"/>
              <a:t>attention</a:t>
            </a:r>
            <a:r>
              <a:rPr dirty="0" spc="-10"/>
              <a:t> </a:t>
            </a:r>
            <a:r>
              <a:rPr dirty="0" spc="-50"/>
              <a:t>layers</a:t>
            </a:r>
            <a:r>
              <a:rPr dirty="0" spc="-5"/>
              <a:t> </a:t>
            </a:r>
            <a:r>
              <a:rPr dirty="0" spc="-45"/>
              <a:t>offer</a:t>
            </a:r>
            <a:r>
              <a:rPr dirty="0" spc="-10"/>
              <a:t> </a:t>
            </a:r>
            <a:r>
              <a:rPr dirty="0" spc="-25"/>
              <a:t>significant</a:t>
            </a:r>
            <a:r>
              <a:rPr dirty="0" spc="-5"/>
              <a:t> </a:t>
            </a:r>
            <a:r>
              <a:rPr dirty="0" spc="-30"/>
              <a:t>computational</a:t>
            </a:r>
            <a:r>
              <a:rPr dirty="0" spc="-10"/>
              <a:t> </a:t>
            </a:r>
            <a:r>
              <a:rPr dirty="0" spc="-45"/>
              <a:t>advantages</a:t>
            </a:r>
            <a:r>
              <a:rPr dirty="0" spc="-5"/>
              <a:t> </a:t>
            </a:r>
            <a:r>
              <a:rPr dirty="0" spc="-50"/>
              <a:t>over</a:t>
            </a:r>
            <a:r>
              <a:rPr dirty="0" spc="-10"/>
              <a:t> </a:t>
            </a:r>
            <a:r>
              <a:rPr dirty="0" spc="-35"/>
              <a:t>recurrent </a:t>
            </a:r>
            <a:r>
              <a:rPr dirty="0" spc="-10"/>
              <a:t>networks.</a:t>
            </a: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/>
              <a:t>They</a:t>
            </a:r>
            <a:r>
              <a:rPr dirty="0" spc="-40"/>
              <a:t> require</a:t>
            </a:r>
            <a:r>
              <a:rPr dirty="0" spc="-35"/>
              <a:t> </a:t>
            </a:r>
            <a:r>
              <a:rPr dirty="0" spc="-25"/>
              <a:t>constant</a:t>
            </a:r>
            <a:r>
              <a:rPr dirty="0" spc="-35"/>
              <a:t> </a:t>
            </a:r>
            <a:r>
              <a:rPr dirty="0" spc="-40"/>
              <a:t>sequential</a:t>
            </a:r>
            <a:r>
              <a:rPr dirty="0" spc="-35"/>
              <a:t> operations</a:t>
            </a:r>
            <a:r>
              <a:rPr dirty="0" spc="-30"/>
              <a:t> </a:t>
            </a:r>
            <a:r>
              <a:rPr dirty="0" spc="-55"/>
              <a:t>versus</a:t>
            </a:r>
            <a:r>
              <a:rPr dirty="0" spc="-3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n</a:t>
            </a:r>
            <a:r>
              <a:rPr dirty="0" spc="-35"/>
              <a:t> </a:t>
            </a:r>
            <a:r>
              <a:rPr dirty="0" spc="-20"/>
              <a:t>for</a:t>
            </a:r>
            <a:r>
              <a:rPr dirty="0" spc="-35"/>
              <a:t> recurrent </a:t>
            </a:r>
            <a:r>
              <a:rPr dirty="0" spc="-10"/>
              <a:t>layers.</a:t>
            </a: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/>
              <a:t>This</a:t>
            </a:r>
            <a:r>
              <a:rPr dirty="0" spc="-30"/>
              <a:t> </a:t>
            </a:r>
            <a:r>
              <a:rPr dirty="0" spc="-45"/>
              <a:t>design</a:t>
            </a:r>
            <a:r>
              <a:rPr dirty="0" spc="-25"/>
              <a:t> </a:t>
            </a:r>
            <a:r>
              <a:rPr dirty="0" spc="-35"/>
              <a:t>allows</a:t>
            </a:r>
            <a:r>
              <a:rPr dirty="0" spc="-25"/>
              <a:t> </a:t>
            </a:r>
            <a:r>
              <a:rPr dirty="0" spc="-45"/>
              <a:t>greater</a:t>
            </a:r>
            <a:r>
              <a:rPr dirty="0" spc="-25"/>
              <a:t> </a:t>
            </a:r>
            <a:r>
              <a:rPr dirty="0" spc="-30"/>
              <a:t>parallelization </a:t>
            </a:r>
            <a:r>
              <a:rPr dirty="0" spc="-25"/>
              <a:t>and </a:t>
            </a:r>
            <a:r>
              <a:rPr dirty="0" spc="-40"/>
              <a:t>shorter</a:t>
            </a:r>
            <a:r>
              <a:rPr dirty="0" spc="-25"/>
              <a:t> </a:t>
            </a:r>
            <a:r>
              <a:rPr dirty="0" spc="-10"/>
              <a:t>path</a:t>
            </a:r>
            <a:r>
              <a:rPr dirty="0" spc="-25"/>
              <a:t> </a:t>
            </a:r>
            <a:r>
              <a:rPr dirty="0" spc="-10"/>
              <a:t>lengths.</a:t>
            </a: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pc="-25"/>
              <a:t>Multi-</a:t>
            </a:r>
            <a:r>
              <a:rPr dirty="0"/>
              <a:t>head</a:t>
            </a:r>
            <a:r>
              <a:rPr dirty="0" spc="-15"/>
              <a:t> </a:t>
            </a:r>
            <a:r>
              <a:rPr dirty="0" spc="-20"/>
              <a:t>attention</a:t>
            </a:r>
            <a:r>
              <a:rPr dirty="0" spc="-10"/>
              <a:t> </a:t>
            </a:r>
            <a:r>
              <a:rPr dirty="0" spc="-30"/>
              <a:t>attends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 spc="-35"/>
              <a:t>different</a:t>
            </a:r>
            <a:r>
              <a:rPr dirty="0" spc="-10"/>
              <a:t> </a:t>
            </a:r>
            <a:r>
              <a:rPr dirty="0" spc="-45"/>
              <a:t>representation</a:t>
            </a:r>
            <a:r>
              <a:rPr dirty="0" spc="-15"/>
              <a:t> </a:t>
            </a:r>
            <a:r>
              <a:rPr dirty="0" spc="-65"/>
              <a:t>subspaces</a:t>
            </a:r>
            <a:r>
              <a:rPr dirty="0" spc="-10"/>
              <a:t> </a:t>
            </a:r>
            <a:r>
              <a:rPr dirty="0" spc="-35"/>
              <a:t>simultaneously.</a:t>
            </a: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/>
              <a:t>The</a:t>
            </a:r>
            <a:r>
              <a:rPr dirty="0" spc="-25"/>
              <a:t> </a:t>
            </a:r>
            <a:r>
              <a:rPr dirty="0" spc="-30"/>
              <a:t>model</a:t>
            </a:r>
            <a:r>
              <a:rPr dirty="0" spc="-20"/>
              <a:t> </a:t>
            </a:r>
            <a:r>
              <a:rPr dirty="0" spc="-45"/>
              <a:t>demonstrated</a:t>
            </a:r>
            <a:r>
              <a:rPr dirty="0" spc="-25"/>
              <a:t> </a:t>
            </a:r>
            <a:r>
              <a:rPr dirty="0" spc="-30"/>
              <a:t>strong</a:t>
            </a:r>
            <a:r>
              <a:rPr dirty="0" spc="-20"/>
              <a:t> </a:t>
            </a:r>
            <a:r>
              <a:rPr dirty="0" spc="-35"/>
              <a:t>generalizability</a:t>
            </a:r>
            <a:r>
              <a:rPr dirty="0" spc="-25"/>
              <a:t> </a:t>
            </a:r>
            <a:r>
              <a:rPr dirty="0" spc="-10"/>
              <a:t>on</a:t>
            </a:r>
            <a:r>
              <a:rPr dirty="0" spc="-20"/>
              <a:t> English</a:t>
            </a:r>
            <a:r>
              <a:rPr dirty="0" spc="-25"/>
              <a:t> </a:t>
            </a:r>
            <a:r>
              <a:rPr dirty="0" spc="-35"/>
              <a:t>constituency</a:t>
            </a:r>
            <a:r>
              <a:rPr dirty="0" spc="-20"/>
              <a:t> </a:t>
            </a:r>
            <a:r>
              <a:rPr dirty="0" spc="-10"/>
              <a:t>parsing.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470217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Tr</a:t>
            </a:r>
            <a:r>
              <a:rPr dirty="0" spc="-145"/>
              <a:t>ansf</a:t>
            </a:r>
            <a:r>
              <a:rPr dirty="0" spc="-145"/>
              <a:t>ormer</a:t>
            </a:r>
            <a:r>
              <a:rPr dirty="0" spc="65"/>
              <a:t> </a:t>
            </a:r>
            <a:r>
              <a:rPr dirty="0" spc="-160"/>
              <a:t>Establishes</a:t>
            </a:r>
            <a:r>
              <a:rPr dirty="0" spc="65"/>
              <a:t> </a:t>
            </a:r>
            <a:r>
              <a:rPr dirty="0" spc="-100"/>
              <a:t>Attention-</a:t>
            </a:r>
            <a:r>
              <a:rPr dirty="0" spc="-105"/>
              <a:t>Only</a:t>
            </a:r>
            <a:r>
              <a:rPr dirty="0" spc="65"/>
              <a:t> </a:t>
            </a:r>
            <a:r>
              <a:rPr dirty="0" spc="-125"/>
              <a:t>Models</a:t>
            </a:r>
            <a:r>
              <a:rPr dirty="0" spc="65"/>
              <a:t> </a:t>
            </a:r>
            <a:r>
              <a:rPr dirty="0" spc="-215"/>
              <a:t>as</a:t>
            </a:r>
            <a:r>
              <a:rPr dirty="0" spc="65"/>
              <a:t> </a:t>
            </a:r>
            <a:r>
              <a:rPr dirty="0" spc="-185"/>
              <a:t>a</a:t>
            </a:r>
            <a:r>
              <a:rPr dirty="0" spc="65"/>
              <a:t> </a:t>
            </a:r>
            <a:r>
              <a:rPr dirty="0" spc="-170"/>
              <a:t>New</a:t>
            </a:r>
            <a:r>
              <a:rPr dirty="0" spc="65"/>
              <a:t> </a:t>
            </a:r>
            <a:r>
              <a:rPr dirty="0" spc="-105"/>
              <a:t>Standard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47332" y="469656"/>
            <a:ext cx="4810760" cy="12052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6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Transformer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introduced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an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attention-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only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Tahoma"/>
                <a:cs typeface="Tahoma"/>
              </a:rPr>
              <a:t>sequence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transduction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replaced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traditional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recurrent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layers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multi-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headed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self-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attention.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model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achieved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new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state-of-the-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art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results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22373A"/>
                </a:solidFill>
                <a:latin typeface="Tahoma"/>
                <a:cs typeface="Tahoma"/>
              </a:rPr>
              <a:t>WMT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2014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tasks.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40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offered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significantly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faster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training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times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than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previous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models.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535"/>
              </a:spcBef>
              <a:buChar char="▪"/>
              <a:tabLst>
                <a:tab pos="19050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model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demonstrated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strong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generalization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English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constituency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parsing.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Ashish Vaswani et al.</dc:creator>
  <dc:title>Attention Is All You Need</dc:title>
  <dcterms:created xsi:type="dcterms:W3CDTF">2026-10-08T21:23:27Z</dcterms:created>
  <dcterms:modified xsi:type="dcterms:W3CDTF">2026-10-08T21:23:27Z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2026-10-08T00:00:00Z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(20240305)</vt:lpwstr>
  </property>
  <property fmtid="{D5CDD505-2E9C-101B-9397-08002B2CF9AE}" pid="6" name="LastSaved">
    <vt:filetime>2026-10-08T00:00:00Z</vt:filetime>
  </property>
</Properties>
</file>