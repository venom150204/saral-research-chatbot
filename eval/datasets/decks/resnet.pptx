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69391"/>
            <a:ext cx="569595" cy="2670810"/>
          </a:xfrm>
          <a:custGeom>
            <a:avLst/>
            <a:gdLst/>
            <a:ahLst/>
            <a:cxnLst/>
            <a:rect l="l" t="t" r="r" b="b"/>
            <a:pathLst>
              <a:path w="569595" h="2670810">
                <a:moveTo>
                  <a:pt x="569366" y="0"/>
                </a:moveTo>
                <a:lnTo>
                  <a:pt x="0" y="0"/>
                </a:lnTo>
                <a:lnTo>
                  <a:pt x="0" y="2670632"/>
                </a:lnTo>
                <a:lnTo>
                  <a:pt x="569366" y="2670632"/>
                </a:lnTo>
                <a:lnTo>
                  <a:pt x="56936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4667" y="146745"/>
            <a:ext cx="47980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3752" y="690750"/>
            <a:ext cx="4213225" cy="866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6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1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25"/>
            <a:ext cx="5760085" cy="569595"/>
            <a:chOff x="0" y="25"/>
            <a:chExt cx="5760085" cy="569595"/>
          </a:xfrm>
        </p:grpSpPr>
        <p:sp>
          <p:nvSpPr>
            <p:cNvPr id="5" name="object 5"/>
            <p:cNvSpPr/>
            <p:nvPr/>
          </p:nvSpPr>
          <p:spPr>
            <a:xfrm>
              <a:off x="569366" y="25"/>
              <a:ext cx="5191125" cy="569595"/>
            </a:xfrm>
            <a:custGeom>
              <a:avLst/>
              <a:gdLst/>
              <a:ahLst/>
              <a:cxnLst/>
              <a:rect l="l" t="t" r="r" b="b"/>
              <a:pathLst>
                <a:path w="5191125" h="569595">
                  <a:moveTo>
                    <a:pt x="0" y="569366"/>
                  </a:moveTo>
                  <a:lnTo>
                    <a:pt x="5190629" y="569366"/>
                  </a:lnTo>
                  <a:lnTo>
                    <a:pt x="5190629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25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" name="object 2"/>
          <p:cNvSpPr txBox="1"/>
          <p:nvPr/>
        </p:nvSpPr>
        <p:spPr>
          <a:xfrm>
            <a:off x="26619" y="647336"/>
            <a:ext cx="516255" cy="6343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9050" marR="11430">
              <a:lnSpc>
                <a:spcPts val="700"/>
              </a:lnSpc>
              <a:spcBef>
                <a:spcPts val="135"/>
              </a:spcBef>
            </a:pP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Deep</a:t>
            </a: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3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Residual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Learning</a:t>
            </a:r>
            <a:r>
              <a:rPr dirty="0" sz="600" spc="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for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Image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Recognition</a:t>
            </a:r>
            <a:endParaRPr sz="600">
              <a:latin typeface="Arial"/>
              <a:cs typeface="Arial"/>
            </a:endParaRPr>
          </a:p>
          <a:p>
            <a:pPr algn="ctr" marL="12700" marR="5080">
              <a:lnSpc>
                <a:spcPts val="700"/>
              </a:lnSpc>
              <a:spcBef>
                <a:spcPts val="580"/>
              </a:spcBef>
            </a:pPr>
            <a:r>
              <a:rPr dirty="0" sz="600">
                <a:solidFill>
                  <a:srgbClr val="9999D8"/>
                </a:solidFill>
                <a:latin typeface="Arial"/>
                <a:cs typeface="Arial"/>
              </a:rPr>
              <a:t>Kaiming</a:t>
            </a:r>
            <a:r>
              <a:rPr dirty="0" sz="600" spc="15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9999D8"/>
                </a:solidFill>
                <a:latin typeface="Arial"/>
                <a:cs typeface="Arial"/>
              </a:rPr>
              <a:t>He</a:t>
            </a:r>
            <a:r>
              <a:rPr dirty="0" sz="600" spc="15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9999D8"/>
                </a:solidFill>
                <a:latin typeface="Arial"/>
                <a:cs typeface="Arial"/>
              </a:rPr>
              <a:t>et</a:t>
            </a:r>
            <a:r>
              <a:rPr dirty="0" sz="600" spc="500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9999D8"/>
                </a:solidFill>
                <a:latin typeface="Arial"/>
                <a:cs typeface="Arial"/>
              </a:rPr>
              <a:t>al.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98562" y="870673"/>
            <a:ext cx="4983480" cy="533400"/>
            <a:chOff x="698562" y="870673"/>
            <a:chExt cx="4983480" cy="533400"/>
          </a:xfrm>
        </p:grpSpPr>
        <p:sp>
          <p:nvSpPr>
            <p:cNvPr id="8" name="object 8"/>
            <p:cNvSpPr/>
            <p:nvPr/>
          </p:nvSpPr>
          <p:spPr>
            <a:xfrm>
              <a:off x="698562" y="870673"/>
              <a:ext cx="4932680" cy="82550"/>
            </a:xfrm>
            <a:custGeom>
              <a:avLst/>
              <a:gdLst/>
              <a:ahLst/>
              <a:cxnLst/>
              <a:rect l="l" t="t" r="r" b="b"/>
              <a:pathLst>
                <a:path w="4932680" h="82550">
                  <a:moveTo>
                    <a:pt x="488149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932298" y="82384"/>
                  </a:lnTo>
                  <a:lnTo>
                    <a:pt x="4932298" y="50800"/>
                  </a:lnTo>
                  <a:lnTo>
                    <a:pt x="4928290" y="31075"/>
                  </a:lnTo>
                  <a:lnTo>
                    <a:pt x="4917376" y="14922"/>
                  </a:lnTo>
                  <a:lnTo>
                    <a:pt x="4901222" y="4008"/>
                  </a:lnTo>
                  <a:lnTo>
                    <a:pt x="4881497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49363" y="933923"/>
              <a:ext cx="4932680" cy="469900"/>
            </a:xfrm>
            <a:custGeom>
              <a:avLst/>
              <a:gdLst/>
              <a:ahLst/>
              <a:cxnLst/>
              <a:rect l="l" t="t" r="r" b="b"/>
              <a:pathLst>
                <a:path w="4932680" h="469900">
                  <a:moveTo>
                    <a:pt x="4932298" y="0"/>
                  </a:moveTo>
                  <a:lnTo>
                    <a:pt x="0" y="0"/>
                  </a:lnTo>
                  <a:lnTo>
                    <a:pt x="0" y="469758"/>
                  </a:lnTo>
                  <a:lnTo>
                    <a:pt x="4932298" y="469758"/>
                  </a:lnTo>
                  <a:lnTo>
                    <a:pt x="49322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98562" y="915086"/>
              <a:ext cx="4932680" cy="438150"/>
            </a:xfrm>
            <a:custGeom>
              <a:avLst/>
              <a:gdLst/>
              <a:ahLst/>
              <a:cxnLst/>
              <a:rect l="l" t="t" r="r" b="b"/>
              <a:pathLst>
                <a:path w="4932680" h="438150">
                  <a:moveTo>
                    <a:pt x="4932298" y="0"/>
                  </a:moveTo>
                  <a:lnTo>
                    <a:pt x="0" y="0"/>
                  </a:lnTo>
                  <a:lnTo>
                    <a:pt x="0" y="386994"/>
                  </a:lnTo>
                  <a:lnTo>
                    <a:pt x="4008" y="406718"/>
                  </a:lnTo>
                  <a:lnTo>
                    <a:pt x="14922" y="422871"/>
                  </a:lnTo>
                  <a:lnTo>
                    <a:pt x="31075" y="433785"/>
                  </a:lnTo>
                  <a:lnTo>
                    <a:pt x="50800" y="437794"/>
                  </a:lnTo>
                  <a:lnTo>
                    <a:pt x="4881497" y="437794"/>
                  </a:lnTo>
                  <a:lnTo>
                    <a:pt x="4901222" y="433785"/>
                  </a:lnTo>
                  <a:lnTo>
                    <a:pt x="4917376" y="422871"/>
                  </a:lnTo>
                  <a:lnTo>
                    <a:pt x="4928290" y="406718"/>
                  </a:lnTo>
                  <a:lnTo>
                    <a:pt x="4932298" y="386994"/>
                  </a:lnTo>
                  <a:lnTo>
                    <a:pt x="4932298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749363" y="933923"/>
            <a:ext cx="4932680" cy="46990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algn="ctr" marR="93980">
              <a:lnSpc>
                <a:spcPct val="100000"/>
              </a:lnSpc>
              <a:spcBef>
                <a:spcPts val="455"/>
              </a:spcBef>
            </a:pPr>
            <a:r>
              <a:rPr dirty="0"/>
              <a:t>Deep</a:t>
            </a:r>
            <a:r>
              <a:rPr dirty="0" spc="100"/>
              <a:t> </a:t>
            </a:r>
            <a:r>
              <a:rPr dirty="0"/>
              <a:t>Residual</a:t>
            </a:r>
            <a:r>
              <a:rPr dirty="0" spc="105"/>
              <a:t> </a:t>
            </a:r>
            <a:r>
              <a:rPr dirty="0"/>
              <a:t>Learning</a:t>
            </a:r>
            <a:r>
              <a:rPr dirty="0" spc="105"/>
              <a:t> </a:t>
            </a:r>
            <a:r>
              <a:rPr dirty="0"/>
              <a:t>for</a:t>
            </a:r>
            <a:r>
              <a:rPr dirty="0" spc="100"/>
              <a:t> </a:t>
            </a:r>
            <a:r>
              <a:rPr dirty="0"/>
              <a:t>Image</a:t>
            </a:r>
            <a:r>
              <a:rPr dirty="0" spc="105"/>
              <a:t> </a:t>
            </a:r>
            <a:r>
              <a:rPr dirty="0" spc="-10"/>
              <a:t>Recognition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260" y="1382679"/>
            <a:ext cx="481330" cy="12890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51765">
              <a:lnSpc>
                <a:spcPts val="700"/>
              </a:lnSpc>
              <a:spcBef>
                <a:spcPts val="135"/>
              </a:spcBef>
            </a:pPr>
            <a:r>
              <a:rPr dirty="0" sz="600" spc="-2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Deep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Networks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35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Degrad…</a:t>
            </a:r>
            <a:endParaRPr sz="600">
              <a:latin typeface="Arial"/>
              <a:cs typeface="Arial"/>
            </a:endParaRPr>
          </a:p>
          <a:p>
            <a:pPr marL="12700" marR="8255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Learning</a:t>
            </a:r>
            <a:r>
              <a:rPr dirty="0" sz="600" spc="5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600" spc="-1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Re…</a:t>
            </a:r>
            <a:endParaRPr sz="600">
              <a:latin typeface="Arial"/>
              <a:cs typeface="Arial"/>
            </a:endParaRPr>
          </a:p>
          <a:p>
            <a:pPr marL="12700" marR="24765">
              <a:lnSpc>
                <a:spcPts val="700"/>
              </a:lnSpc>
              <a:spcBef>
                <a:spcPts val="555"/>
              </a:spcBef>
            </a:pP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ResNets</a:t>
            </a:r>
            <a:r>
              <a:rPr dirty="0" sz="600" spc="3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Win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ILSVRC</a:t>
            </a:r>
            <a:r>
              <a:rPr dirty="0" sz="600" spc="-3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3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2…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Functions</a:t>
            </a: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 spc="-1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A…</a:t>
            </a:r>
            <a:endParaRPr sz="600">
              <a:latin typeface="Arial"/>
              <a:cs typeface="Arial"/>
            </a:endParaRPr>
          </a:p>
          <a:p>
            <a:pPr marL="12700" marR="6350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2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2" action="ppaction://hlinksldjump"/>
              </a:rPr>
              <a:t>Learning</a:t>
            </a:r>
            <a:r>
              <a:rPr dirty="0" sz="600" spc="5">
                <a:solidFill>
                  <a:srgbClr val="8484D1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90">
                <a:solidFill>
                  <a:srgbClr val="8484D1"/>
                </a:solidFill>
                <a:latin typeface="Arial"/>
                <a:cs typeface="Arial"/>
                <a:hlinkClick r:id="rId2" action="ppaction://hlinksldjump"/>
              </a:rPr>
              <a:t>En…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38120" y="1562911"/>
            <a:ext cx="1053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Tahoma"/>
                <a:cs typeface="Tahoma"/>
              </a:rPr>
              <a:t>Kaiming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al.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26500" y="2673658"/>
            <a:ext cx="1676410" cy="323998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25"/>
            <a:ext cx="5760085" cy="569595"/>
            <a:chOff x="0" y="25"/>
            <a:chExt cx="5760085" cy="569595"/>
          </a:xfrm>
        </p:grpSpPr>
        <p:sp>
          <p:nvSpPr>
            <p:cNvPr id="5" name="object 5"/>
            <p:cNvSpPr/>
            <p:nvPr/>
          </p:nvSpPr>
          <p:spPr>
            <a:xfrm>
              <a:off x="569366" y="25"/>
              <a:ext cx="5191125" cy="569595"/>
            </a:xfrm>
            <a:custGeom>
              <a:avLst/>
              <a:gdLst/>
              <a:ahLst/>
              <a:cxnLst/>
              <a:rect l="l" t="t" r="r" b="b"/>
              <a:pathLst>
                <a:path w="5191125" h="569595">
                  <a:moveTo>
                    <a:pt x="0" y="569366"/>
                  </a:moveTo>
                  <a:lnTo>
                    <a:pt x="5190629" y="569366"/>
                  </a:lnTo>
                  <a:lnTo>
                    <a:pt x="5190629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25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Deep</a:t>
            </a:r>
            <a:r>
              <a:rPr dirty="0" spc="5"/>
              <a:t> </a:t>
            </a:r>
            <a:r>
              <a:rPr dirty="0" spc="-40"/>
              <a:t>Networks</a:t>
            </a:r>
            <a:r>
              <a:rPr dirty="0" spc="10"/>
              <a:t> </a:t>
            </a:r>
            <a:r>
              <a:rPr dirty="0"/>
              <a:t>Degrade</a:t>
            </a:r>
            <a:r>
              <a:rPr dirty="0" spc="5"/>
              <a:t> </a:t>
            </a:r>
            <a:r>
              <a:rPr dirty="0"/>
              <a:t>with</a:t>
            </a:r>
            <a:r>
              <a:rPr dirty="0" spc="10"/>
              <a:t> </a:t>
            </a:r>
            <a:r>
              <a:rPr dirty="0"/>
              <a:t>Added</a:t>
            </a:r>
            <a:r>
              <a:rPr dirty="0" spc="10"/>
              <a:t> </a:t>
            </a:r>
            <a:r>
              <a:rPr dirty="0"/>
              <a:t>Layers,</a:t>
            </a:r>
            <a:r>
              <a:rPr dirty="0" spc="5"/>
              <a:t> </a:t>
            </a:r>
            <a:r>
              <a:rPr dirty="0"/>
              <a:t>Not</a:t>
            </a:r>
            <a:r>
              <a:rPr dirty="0" spc="10"/>
              <a:t> </a:t>
            </a:r>
            <a:r>
              <a:rPr dirty="0" spc="-10"/>
              <a:t>Overfit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6619" y="647336"/>
            <a:ext cx="516255" cy="6343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9050" marR="11430">
              <a:lnSpc>
                <a:spcPts val="700"/>
              </a:lnSpc>
              <a:spcBef>
                <a:spcPts val="135"/>
              </a:spcBef>
            </a:pP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Deep</a:t>
            </a: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3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Residual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Learning</a:t>
            </a:r>
            <a:r>
              <a:rPr dirty="0" sz="600" spc="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for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Image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Recognition</a:t>
            </a:r>
            <a:endParaRPr sz="600">
              <a:latin typeface="Arial"/>
              <a:cs typeface="Arial"/>
            </a:endParaRPr>
          </a:p>
          <a:p>
            <a:pPr algn="ctr" marL="12700" marR="5080">
              <a:lnSpc>
                <a:spcPts val="700"/>
              </a:lnSpc>
              <a:spcBef>
                <a:spcPts val="580"/>
              </a:spcBef>
            </a:pPr>
            <a:r>
              <a:rPr dirty="0" sz="600">
                <a:solidFill>
                  <a:srgbClr val="9999D8"/>
                </a:solidFill>
                <a:latin typeface="Arial"/>
                <a:cs typeface="Arial"/>
              </a:rPr>
              <a:t>Kaiming</a:t>
            </a:r>
            <a:r>
              <a:rPr dirty="0" sz="600" spc="15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9999D8"/>
                </a:solidFill>
                <a:latin typeface="Arial"/>
                <a:cs typeface="Arial"/>
              </a:rPr>
              <a:t>He</a:t>
            </a:r>
            <a:r>
              <a:rPr dirty="0" sz="600" spc="15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9999D8"/>
                </a:solidFill>
                <a:latin typeface="Arial"/>
                <a:cs typeface="Arial"/>
              </a:rPr>
              <a:t>et</a:t>
            </a:r>
            <a:r>
              <a:rPr dirty="0" sz="600" spc="500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9999D8"/>
                </a:solidFill>
                <a:latin typeface="Arial"/>
                <a:cs typeface="Arial"/>
              </a:rPr>
              <a:t>al.</a:t>
            </a:r>
            <a:endParaRPr sz="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1984" y="818045"/>
            <a:ext cx="65201" cy="652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1984" y="1028077"/>
            <a:ext cx="65201" cy="652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1984" y="1238110"/>
            <a:ext cx="65201" cy="6520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 spc="-40"/>
              <a:t>Network</a:t>
            </a:r>
            <a:r>
              <a:rPr dirty="0" spc="-45"/>
              <a:t> </a:t>
            </a:r>
            <a:r>
              <a:rPr dirty="0" spc="-30"/>
              <a:t>depth</a:t>
            </a:r>
            <a:r>
              <a:rPr dirty="0" spc="-40"/>
              <a:t> </a:t>
            </a:r>
            <a:r>
              <a:rPr dirty="0" spc="-50"/>
              <a:t>increases,</a:t>
            </a:r>
            <a:r>
              <a:rPr dirty="0" spc="-40"/>
              <a:t> </a:t>
            </a:r>
            <a:r>
              <a:rPr dirty="0" spc="-35"/>
              <a:t>accuracy</a:t>
            </a:r>
            <a:r>
              <a:rPr dirty="0" spc="-40"/>
              <a:t> </a:t>
            </a:r>
            <a:r>
              <a:rPr dirty="0"/>
              <a:t>first</a:t>
            </a:r>
            <a:r>
              <a:rPr dirty="0" spc="-40"/>
              <a:t> </a:t>
            </a:r>
            <a:r>
              <a:rPr dirty="0" spc="-35"/>
              <a:t>saturates,</a:t>
            </a:r>
            <a:r>
              <a:rPr dirty="0" spc="-40"/>
              <a:t> </a:t>
            </a:r>
            <a:r>
              <a:rPr dirty="0" spc="-25"/>
              <a:t>then</a:t>
            </a:r>
            <a:r>
              <a:rPr dirty="0" spc="-40"/>
              <a:t> </a:t>
            </a:r>
            <a:r>
              <a:rPr dirty="0" spc="-25"/>
              <a:t>rapidly</a:t>
            </a:r>
            <a:r>
              <a:rPr dirty="0" spc="-45"/>
              <a:t> </a:t>
            </a:r>
            <a:r>
              <a:rPr dirty="0" spc="-50"/>
              <a:t>degrades. </a:t>
            </a:r>
            <a:r>
              <a:rPr dirty="0" spc="-20"/>
              <a:t>Overfitting </a:t>
            </a:r>
            <a:r>
              <a:rPr dirty="0" spc="-55"/>
              <a:t>does</a:t>
            </a:r>
            <a:r>
              <a:rPr dirty="0" spc="-15"/>
              <a:t> </a:t>
            </a:r>
            <a:r>
              <a:rPr dirty="0"/>
              <a:t>not</a:t>
            </a:r>
            <a:r>
              <a:rPr dirty="0" spc="-15"/>
              <a:t> </a:t>
            </a:r>
            <a:r>
              <a:rPr dirty="0" spc="-60"/>
              <a:t>cause</a:t>
            </a:r>
            <a:r>
              <a:rPr dirty="0" spc="-20"/>
              <a:t> </a:t>
            </a:r>
            <a:r>
              <a:rPr dirty="0" spc="-65"/>
              <a:t>deep</a:t>
            </a:r>
            <a:r>
              <a:rPr dirty="0" spc="-15"/>
              <a:t> </a:t>
            </a:r>
            <a:r>
              <a:rPr dirty="0" spc="-50"/>
              <a:t>network</a:t>
            </a:r>
            <a:r>
              <a:rPr dirty="0" spc="-15"/>
              <a:t> </a:t>
            </a:r>
            <a:r>
              <a:rPr dirty="0" spc="-35"/>
              <a:t>accuracy</a:t>
            </a:r>
            <a:r>
              <a:rPr dirty="0" spc="-15"/>
              <a:t> </a:t>
            </a:r>
            <a:r>
              <a:rPr dirty="0" spc="-10"/>
              <a:t>degradation.</a:t>
            </a:r>
          </a:p>
          <a:p>
            <a:pPr marL="12700" marR="263525">
              <a:lnSpc>
                <a:spcPct val="125299"/>
              </a:lnSpc>
            </a:pPr>
            <a:r>
              <a:rPr dirty="0" spc="-10"/>
              <a:t>Optimization</a:t>
            </a:r>
            <a:r>
              <a:rPr dirty="0" spc="-25"/>
              <a:t> </a:t>
            </a:r>
            <a:r>
              <a:rPr dirty="0" spc="-20"/>
              <a:t>diﬀiculty </a:t>
            </a:r>
            <a:r>
              <a:rPr dirty="0" spc="-60"/>
              <a:t>causes</a:t>
            </a:r>
            <a:r>
              <a:rPr dirty="0" spc="-25"/>
              <a:t> </a:t>
            </a:r>
            <a:r>
              <a:rPr dirty="0" spc="-65"/>
              <a:t>deep</a:t>
            </a:r>
            <a:r>
              <a:rPr dirty="0" spc="-20"/>
              <a:t> </a:t>
            </a:r>
            <a:r>
              <a:rPr dirty="0" spc="-50"/>
              <a:t>network</a:t>
            </a:r>
            <a:r>
              <a:rPr dirty="0" spc="-25"/>
              <a:t> </a:t>
            </a:r>
            <a:r>
              <a:rPr dirty="0" spc="-35"/>
              <a:t>accuracy</a:t>
            </a:r>
            <a:r>
              <a:rPr dirty="0" spc="-20"/>
              <a:t> </a:t>
            </a:r>
            <a:r>
              <a:rPr dirty="0" spc="-10"/>
              <a:t>degradation.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 spc="-40"/>
              <a:t>authors</a:t>
            </a:r>
            <a:r>
              <a:rPr dirty="0" spc="-30"/>
              <a:t> </a:t>
            </a:r>
            <a:r>
              <a:rPr dirty="0" spc="-60"/>
              <a:t>propose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35"/>
              <a:t> residual </a:t>
            </a:r>
            <a:r>
              <a:rPr dirty="0" spc="-40"/>
              <a:t>learning</a:t>
            </a:r>
            <a:r>
              <a:rPr dirty="0" spc="-30"/>
              <a:t> </a:t>
            </a:r>
            <a:r>
              <a:rPr dirty="0" spc="-50"/>
              <a:t>framework</a:t>
            </a:r>
            <a:r>
              <a:rPr dirty="0" spc="-35"/>
              <a:t> </a:t>
            </a:r>
            <a:r>
              <a:rPr dirty="0" spc="-20"/>
              <a:t>for</a:t>
            </a:r>
            <a:r>
              <a:rPr dirty="0" spc="-35"/>
              <a:t> </a:t>
            </a:r>
            <a:r>
              <a:rPr dirty="0"/>
              <a:t>this</a:t>
            </a:r>
            <a:r>
              <a:rPr dirty="0" spc="-35"/>
              <a:t> </a:t>
            </a:r>
            <a:r>
              <a:rPr dirty="0" spc="-45"/>
              <a:t>problem.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260" y="1382679"/>
            <a:ext cx="481330" cy="12890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51765">
              <a:lnSpc>
                <a:spcPts val="700"/>
              </a:lnSpc>
              <a:spcBef>
                <a:spcPts val="135"/>
              </a:spcBef>
            </a:pPr>
            <a:r>
              <a:rPr dirty="0" sz="600" spc="-2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Deep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Networks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35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Degrad…</a:t>
            </a:r>
            <a:endParaRPr sz="600">
              <a:latin typeface="Arial"/>
              <a:cs typeface="Arial"/>
            </a:endParaRPr>
          </a:p>
          <a:p>
            <a:pPr marL="12700" marR="8255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Learning</a:t>
            </a:r>
            <a:r>
              <a:rPr dirty="0" sz="600" spc="5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600" spc="-1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Re…</a:t>
            </a:r>
            <a:endParaRPr sz="600">
              <a:latin typeface="Arial"/>
              <a:cs typeface="Arial"/>
            </a:endParaRPr>
          </a:p>
          <a:p>
            <a:pPr marL="12700" marR="24765">
              <a:lnSpc>
                <a:spcPts val="700"/>
              </a:lnSpc>
              <a:spcBef>
                <a:spcPts val="555"/>
              </a:spcBef>
            </a:pP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ResNets</a:t>
            </a:r>
            <a:r>
              <a:rPr dirty="0" sz="600" spc="3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Win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ILSVRC</a:t>
            </a:r>
            <a:r>
              <a:rPr dirty="0" sz="600" spc="-3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3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2…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Functions</a:t>
            </a: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 spc="-1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A…</a:t>
            </a:r>
            <a:endParaRPr sz="600">
              <a:latin typeface="Arial"/>
              <a:cs typeface="Arial"/>
            </a:endParaRPr>
          </a:p>
          <a:p>
            <a:pPr marL="12700" marR="6350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Learning</a:t>
            </a:r>
            <a:r>
              <a:rPr dirty="0" sz="600" spc="5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 spc="-9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En…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1984" y="1448142"/>
            <a:ext cx="65201" cy="65201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25"/>
            <a:ext cx="5760085" cy="569595"/>
            <a:chOff x="0" y="25"/>
            <a:chExt cx="5760085" cy="569595"/>
          </a:xfrm>
        </p:grpSpPr>
        <p:sp>
          <p:nvSpPr>
            <p:cNvPr id="5" name="object 5"/>
            <p:cNvSpPr/>
            <p:nvPr/>
          </p:nvSpPr>
          <p:spPr>
            <a:xfrm>
              <a:off x="569366" y="25"/>
              <a:ext cx="5191125" cy="569595"/>
            </a:xfrm>
            <a:custGeom>
              <a:avLst/>
              <a:gdLst/>
              <a:ahLst/>
              <a:cxnLst/>
              <a:rect l="l" t="t" r="r" b="b"/>
              <a:pathLst>
                <a:path w="5191125" h="569595">
                  <a:moveTo>
                    <a:pt x="0" y="569366"/>
                  </a:moveTo>
                  <a:lnTo>
                    <a:pt x="5190629" y="569366"/>
                  </a:lnTo>
                  <a:lnTo>
                    <a:pt x="5190629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25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Residual</a:t>
            </a:r>
            <a:r>
              <a:rPr dirty="0" spc="125"/>
              <a:t> </a:t>
            </a:r>
            <a:r>
              <a:rPr dirty="0"/>
              <a:t>Learning</a:t>
            </a:r>
            <a:r>
              <a:rPr dirty="0" spc="125"/>
              <a:t> </a:t>
            </a:r>
            <a:r>
              <a:rPr dirty="0"/>
              <a:t>Reformulates</a:t>
            </a:r>
            <a:r>
              <a:rPr dirty="0" spc="125"/>
              <a:t> </a:t>
            </a:r>
            <a:r>
              <a:rPr dirty="0"/>
              <a:t>Layers</a:t>
            </a:r>
            <a:r>
              <a:rPr dirty="0" spc="130"/>
              <a:t> </a:t>
            </a:r>
            <a:r>
              <a:rPr dirty="0"/>
              <a:t>with</a:t>
            </a:r>
            <a:r>
              <a:rPr dirty="0" spc="125"/>
              <a:t> </a:t>
            </a:r>
            <a:r>
              <a:rPr dirty="0"/>
              <a:t>Identity</a:t>
            </a:r>
            <a:r>
              <a:rPr dirty="0" spc="125"/>
              <a:t> </a:t>
            </a:r>
            <a:r>
              <a:rPr dirty="0" spc="-10"/>
              <a:t>Shortcuts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6619" y="647336"/>
            <a:ext cx="516255" cy="6343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9050" marR="11430">
              <a:lnSpc>
                <a:spcPts val="700"/>
              </a:lnSpc>
              <a:spcBef>
                <a:spcPts val="135"/>
              </a:spcBef>
            </a:pP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Deep</a:t>
            </a: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3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Residual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Learning</a:t>
            </a:r>
            <a:r>
              <a:rPr dirty="0" sz="600" spc="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for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Image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Recognition</a:t>
            </a:r>
            <a:endParaRPr sz="600">
              <a:latin typeface="Arial"/>
              <a:cs typeface="Arial"/>
            </a:endParaRPr>
          </a:p>
          <a:p>
            <a:pPr algn="ctr" marL="12700" marR="5080">
              <a:lnSpc>
                <a:spcPts val="700"/>
              </a:lnSpc>
              <a:spcBef>
                <a:spcPts val="580"/>
              </a:spcBef>
            </a:pPr>
            <a:r>
              <a:rPr dirty="0" sz="600">
                <a:solidFill>
                  <a:srgbClr val="9999D8"/>
                </a:solidFill>
                <a:latin typeface="Arial"/>
                <a:cs typeface="Arial"/>
              </a:rPr>
              <a:t>Kaiming</a:t>
            </a:r>
            <a:r>
              <a:rPr dirty="0" sz="600" spc="15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9999D8"/>
                </a:solidFill>
                <a:latin typeface="Arial"/>
                <a:cs typeface="Arial"/>
              </a:rPr>
              <a:t>He</a:t>
            </a:r>
            <a:r>
              <a:rPr dirty="0" sz="600" spc="15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9999D8"/>
                </a:solidFill>
                <a:latin typeface="Arial"/>
                <a:cs typeface="Arial"/>
              </a:rPr>
              <a:t>et</a:t>
            </a:r>
            <a:r>
              <a:rPr dirty="0" sz="600" spc="500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9999D8"/>
                </a:solidFill>
                <a:latin typeface="Arial"/>
                <a:cs typeface="Arial"/>
              </a:rPr>
              <a:t>al.</a:t>
            </a:r>
            <a:endParaRPr sz="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1984" y="818045"/>
            <a:ext cx="65201" cy="652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1984" y="1028077"/>
            <a:ext cx="65201" cy="652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1984" y="1238110"/>
            <a:ext cx="65201" cy="6520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807720">
              <a:lnSpc>
                <a:spcPct val="125299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30"/>
              <a:t> </a:t>
            </a:r>
            <a:r>
              <a:rPr dirty="0" spc="-40"/>
              <a:t>authors</a:t>
            </a:r>
            <a:r>
              <a:rPr dirty="0" spc="-25"/>
              <a:t> </a:t>
            </a:r>
            <a:r>
              <a:rPr dirty="0" spc="-30"/>
              <a:t>introduce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 spc="-65"/>
              <a:t>deep</a:t>
            </a:r>
            <a:r>
              <a:rPr dirty="0" spc="-25"/>
              <a:t> </a:t>
            </a:r>
            <a:r>
              <a:rPr dirty="0" spc="-35"/>
              <a:t>residual</a:t>
            </a:r>
            <a:r>
              <a:rPr dirty="0" spc="-25"/>
              <a:t> </a:t>
            </a:r>
            <a:r>
              <a:rPr dirty="0" spc="-40"/>
              <a:t>learning</a:t>
            </a:r>
            <a:r>
              <a:rPr dirty="0" spc="-25"/>
              <a:t> </a:t>
            </a:r>
            <a:r>
              <a:rPr dirty="0" spc="-50"/>
              <a:t>framework. </a:t>
            </a:r>
            <a:r>
              <a:rPr dirty="0" spc="-45"/>
              <a:t>Layers</a:t>
            </a:r>
            <a:r>
              <a:rPr dirty="0" spc="-15"/>
              <a:t> </a:t>
            </a:r>
            <a:r>
              <a:rPr dirty="0" spc="-45"/>
              <a:t>learn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35"/>
              <a:t>residual</a:t>
            </a:r>
            <a:r>
              <a:rPr dirty="0" spc="-15"/>
              <a:t> </a:t>
            </a:r>
            <a:r>
              <a:rPr dirty="0" spc="-25"/>
              <a:t>function</a:t>
            </a:r>
            <a:r>
              <a:rPr dirty="0" spc="-10"/>
              <a:t> </a:t>
            </a:r>
            <a:r>
              <a:rPr dirty="0"/>
              <a:t>F(x)</a:t>
            </a:r>
            <a:r>
              <a:rPr dirty="0" spc="-15"/>
              <a:t> </a:t>
            </a:r>
            <a:r>
              <a:rPr dirty="0"/>
              <a:t>=</a:t>
            </a:r>
            <a:r>
              <a:rPr dirty="0" spc="-10"/>
              <a:t> </a:t>
            </a:r>
            <a:r>
              <a:rPr dirty="0"/>
              <a:t>H(x)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15"/>
              <a:t> </a:t>
            </a:r>
            <a:r>
              <a:rPr dirty="0" spc="-25"/>
              <a:t>x.</a:t>
            </a:r>
          </a:p>
          <a:p>
            <a:pPr marL="12700" marR="5080">
              <a:lnSpc>
                <a:spcPct val="125299"/>
              </a:lnSpc>
            </a:pPr>
            <a:r>
              <a:rPr dirty="0" spc="-35"/>
              <a:t>Identity </a:t>
            </a:r>
            <a:r>
              <a:rPr dirty="0" spc="-25"/>
              <a:t>shortcut</a:t>
            </a:r>
            <a:r>
              <a:rPr dirty="0" spc="-35"/>
              <a:t> </a:t>
            </a:r>
            <a:r>
              <a:rPr dirty="0" spc="-40"/>
              <a:t>connections</a:t>
            </a:r>
            <a:r>
              <a:rPr dirty="0" spc="-30"/>
              <a:t> </a:t>
            </a:r>
            <a:r>
              <a:rPr dirty="0" spc="-35"/>
              <a:t>add </a:t>
            </a:r>
            <a:r>
              <a:rPr dirty="0" spc="-10"/>
              <a:t>input</a:t>
            </a:r>
            <a:r>
              <a:rPr dirty="0" spc="-35"/>
              <a:t> </a:t>
            </a:r>
            <a:r>
              <a:rPr dirty="0"/>
              <a:t>x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 spc="-40"/>
              <a:t>stacked</a:t>
            </a:r>
            <a:r>
              <a:rPr dirty="0" spc="-30"/>
              <a:t> </a:t>
            </a:r>
            <a:r>
              <a:rPr dirty="0" spc="-45"/>
              <a:t>layer</a:t>
            </a:r>
            <a:r>
              <a:rPr dirty="0" spc="-35"/>
              <a:t> </a:t>
            </a:r>
            <a:r>
              <a:rPr dirty="0" spc="-20"/>
              <a:t>output</a:t>
            </a:r>
            <a:r>
              <a:rPr dirty="0" spc="-35"/>
              <a:t> </a:t>
            </a:r>
            <a:r>
              <a:rPr dirty="0" spc="-10"/>
              <a:t>F(x). </a:t>
            </a:r>
            <a:r>
              <a:rPr dirty="0" spc="-35"/>
              <a:t>Identity</a:t>
            </a:r>
            <a:r>
              <a:rPr dirty="0" spc="-45"/>
              <a:t> </a:t>
            </a:r>
            <a:r>
              <a:rPr dirty="0" spc="-35"/>
              <a:t>shortcuts</a:t>
            </a:r>
            <a:r>
              <a:rPr dirty="0" spc="-40"/>
              <a:t> </a:t>
            </a:r>
            <a:r>
              <a:rPr dirty="0" spc="-35"/>
              <a:t>add </a:t>
            </a:r>
            <a:r>
              <a:rPr dirty="0" spc="-10"/>
              <a:t>no</a:t>
            </a:r>
            <a:r>
              <a:rPr dirty="0" spc="-40"/>
              <a:t> </a:t>
            </a:r>
            <a:r>
              <a:rPr dirty="0" spc="-25"/>
              <a:t>extra</a:t>
            </a:r>
            <a:r>
              <a:rPr dirty="0" spc="-40"/>
              <a:t> </a:t>
            </a:r>
            <a:r>
              <a:rPr dirty="0" spc="-50"/>
              <a:t>parameters</a:t>
            </a:r>
            <a:r>
              <a:rPr dirty="0" spc="-40"/>
              <a:t> </a:t>
            </a:r>
            <a:r>
              <a:rPr dirty="0" spc="-20"/>
              <a:t>or</a:t>
            </a:r>
            <a:r>
              <a:rPr dirty="0" spc="-40"/>
              <a:t> </a:t>
            </a:r>
            <a:r>
              <a:rPr dirty="0" spc="-30"/>
              <a:t>computational</a:t>
            </a:r>
            <a:r>
              <a:rPr dirty="0" spc="-35"/>
              <a:t> </a:t>
            </a:r>
            <a:r>
              <a:rPr dirty="0" spc="-40"/>
              <a:t>complexity.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260" y="1382679"/>
            <a:ext cx="481330" cy="12890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51765">
              <a:lnSpc>
                <a:spcPts val="700"/>
              </a:lnSpc>
              <a:spcBef>
                <a:spcPts val="135"/>
              </a:spcBef>
            </a:pPr>
            <a:r>
              <a:rPr dirty="0" sz="600" spc="-2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Deep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Networks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35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Degrad…</a:t>
            </a:r>
            <a:endParaRPr sz="600">
              <a:latin typeface="Arial"/>
              <a:cs typeface="Arial"/>
            </a:endParaRPr>
          </a:p>
          <a:p>
            <a:pPr marL="12700" marR="8255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Residual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Learning</a:t>
            </a:r>
            <a:r>
              <a:rPr dirty="0" sz="600" spc="5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600" spc="-11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Re…</a:t>
            </a:r>
            <a:endParaRPr sz="600">
              <a:latin typeface="Arial"/>
              <a:cs typeface="Arial"/>
            </a:endParaRPr>
          </a:p>
          <a:p>
            <a:pPr marL="12700" marR="24765">
              <a:lnSpc>
                <a:spcPts val="700"/>
              </a:lnSpc>
              <a:spcBef>
                <a:spcPts val="555"/>
              </a:spcBef>
            </a:pP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ResNets</a:t>
            </a:r>
            <a:r>
              <a:rPr dirty="0" sz="600" spc="3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Win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ILSVRC</a:t>
            </a:r>
            <a:r>
              <a:rPr dirty="0" sz="600" spc="-3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3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2…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Functions</a:t>
            </a: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 spc="-1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A…</a:t>
            </a:r>
            <a:endParaRPr sz="600">
              <a:latin typeface="Arial"/>
              <a:cs typeface="Arial"/>
            </a:endParaRPr>
          </a:p>
          <a:p>
            <a:pPr marL="12700" marR="6350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Learning</a:t>
            </a:r>
            <a:r>
              <a:rPr dirty="0" sz="600" spc="5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 spc="-9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En…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1984" y="1448142"/>
            <a:ext cx="65201" cy="65201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25"/>
            <a:ext cx="5760085" cy="569595"/>
            <a:chOff x="0" y="25"/>
            <a:chExt cx="5760085" cy="569595"/>
          </a:xfrm>
        </p:grpSpPr>
        <p:sp>
          <p:nvSpPr>
            <p:cNvPr id="5" name="object 5"/>
            <p:cNvSpPr/>
            <p:nvPr/>
          </p:nvSpPr>
          <p:spPr>
            <a:xfrm>
              <a:off x="569366" y="25"/>
              <a:ext cx="5191125" cy="569595"/>
            </a:xfrm>
            <a:custGeom>
              <a:avLst/>
              <a:gdLst/>
              <a:ahLst/>
              <a:cxnLst/>
              <a:rect l="l" t="t" r="r" b="b"/>
              <a:pathLst>
                <a:path w="5191125" h="569595">
                  <a:moveTo>
                    <a:pt x="0" y="569366"/>
                  </a:moveTo>
                  <a:lnTo>
                    <a:pt x="5190629" y="569366"/>
                  </a:lnTo>
                  <a:lnTo>
                    <a:pt x="5190629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25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ResNets</a:t>
            </a:r>
            <a:r>
              <a:rPr dirty="0" spc="70"/>
              <a:t> </a:t>
            </a:r>
            <a:r>
              <a:rPr dirty="0"/>
              <a:t>Win</a:t>
            </a:r>
            <a:r>
              <a:rPr dirty="0" spc="75"/>
              <a:t> </a:t>
            </a:r>
            <a:r>
              <a:rPr dirty="0"/>
              <a:t>ILSVRC</a:t>
            </a:r>
            <a:r>
              <a:rPr dirty="0" spc="75"/>
              <a:t> </a:t>
            </a:r>
            <a:r>
              <a:rPr dirty="0"/>
              <a:t>2015</a:t>
            </a:r>
            <a:r>
              <a:rPr dirty="0" spc="75"/>
              <a:t> </a:t>
            </a:r>
            <a:r>
              <a:rPr dirty="0"/>
              <a:t>with</a:t>
            </a:r>
            <a:r>
              <a:rPr dirty="0" spc="75"/>
              <a:t> </a:t>
            </a:r>
            <a:r>
              <a:rPr dirty="0" spc="60"/>
              <a:t>3.57%</a:t>
            </a:r>
            <a:r>
              <a:rPr dirty="0" spc="70"/>
              <a:t> </a:t>
            </a:r>
            <a:r>
              <a:rPr dirty="0"/>
              <a:t>ImageNet</a:t>
            </a:r>
            <a:r>
              <a:rPr dirty="0" spc="75"/>
              <a:t> </a:t>
            </a:r>
            <a:r>
              <a:rPr dirty="0"/>
              <a:t>Top</a:t>
            </a:r>
            <a:r>
              <a:rPr dirty="0" spc="75"/>
              <a:t> </a:t>
            </a:r>
            <a:r>
              <a:rPr dirty="0"/>
              <a:t>5</a:t>
            </a:r>
            <a:r>
              <a:rPr dirty="0" spc="75"/>
              <a:t> </a:t>
            </a:r>
            <a:r>
              <a:rPr dirty="0" spc="-10"/>
              <a:t>Error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6619" y="647336"/>
            <a:ext cx="516255" cy="6343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9050" marR="11430">
              <a:lnSpc>
                <a:spcPts val="700"/>
              </a:lnSpc>
              <a:spcBef>
                <a:spcPts val="135"/>
              </a:spcBef>
            </a:pP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Deep</a:t>
            </a: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3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Residual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Learning</a:t>
            </a:r>
            <a:r>
              <a:rPr dirty="0" sz="600" spc="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for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Image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Recognition</a:t>
            </a:r>
            <a:endParaRPr sz="600">
              <a:latin typeface="Arial"/>
              <a:cs typeface="Arial"/>
            </a:endParaRPr>
          </a:p>
          <a:p>
            <a:pPr algn="ctr" marL="12700" marR="5080">
              <a:lnSpc>
                <a:spcPts val="700"/>
              </a:lnSpc>
              <a:spcBef>
                <a:spcPts val="580"/>
              </a:spcBef>
            </a:pPr>
            <a:r>
              <a:rPr dirty="0" sz="600">
                <a:solidFill>
                  <a:srgbClr val="9999D8"/>
                </a:solidFill>
                <a:latin typeface="Arial"/>
                <a:cs typeface="Arial"/>
              </a:rPr>
              <a:t>Kaiming</a:t>
            </a:r>
            <a:r>
              <a:rPr dirty="0" sz="600" spc="15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9999D8"/>
                </a:solidFill>
                <a:latin typeface="Arial"/>
                <a:cs typeface="Arial"/>
              </a:rPr>
              <a:t>He</a:t>
            </a:r>
            <a:r>
              <a:rPr dirty="0" sz="600" spc="15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9999D8"/>
                </a:solidFill>
                <a:latin typeface="Arial"/>
                <a:cs typeface="Arial"/>
              </a:rPr>
              <a:t>et</a:t>
            </a:r>
            <a:r>
              <a:rPr dirty="0" sz="600" spc="500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9999D8"/>
                </a:solidFill>
                <a:latin typeface="Arial"/>
                <a:cs typeface="Arial"/>
              </a:rPr>
              <a:t>al.</a:t>
            </a:r>
            <a:endParaRPr sz="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1984" y="816520"/>
            <a:ext cx="65201" cy="652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1984" y="1026553"/>
            <a:ext cx="65201" cy="652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13752" y="689226"/>
            <a:ext cx="4566285" cy="121031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34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layer</a:t>
            </a:r>
            <a:r>
              <a:rPr dirty="0" sz="1100" spc="-35">
                <a:latin typeface="Tahoma"/>
                <a:cs typeface="Tahoma"/>
              </a:rPr>
              <a:t> residual </a:t>
            </a:r>
            <a:r>
              <a:rPr dirty="0" sz="1100" spc="-50">
                <a:latin typeface="Tahoma"/>
                <a:cs typeface="Tahoma"/>
              </a:rPr>
              <a:t>network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shows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3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point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5</a:t>
            </a:r>
            <a:r>
              <a:rPr dirty="0" sz="1100" spc="-35">
                <a:latin typeface="Tahoma"/>
                <a:cs typeface="Tahoma"/>
              </a:rPr>
              <a:t> percent </a:t>
            </a:r>
            <a:r>
              <a:rPr dirty="0" sz="1100">
                <a:latin typeface="Tahoma"/>
                <a:cs typeface="Tahoma"/>
              </a:rPr>
              <a:t>top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one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error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reduction.</a:t>
            </a:r>
            <a:endParaRPr sz="1100">
              <a:latin typeface="Tahoma"/>
              <a:cs typeface="Tahoma"/>
            </a:endParaRPr>
          </a:p>
          <a:p>
            <a:pPr marL="12700" marR="360680">
              <a:lnSpc>
                <a:spcPct val="102699"/>
              </a:lnSpc>
              <a:spcBef>
                <a:spcPts val="29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152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layer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ResNet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achieves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4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point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4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9</a:t>
            </a:r>
            <a:r>
              <a:rPr dirty="0" sz="1100" spc="-35">
                <a:latin typeface="Tahoma"/>
                <a:cs typeface="Tahoma"/>
              </a:rPr>
              <a:t> percent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single-</a:t>
            </a:r>
            <a:r>
              <a:rPr dirty="0" sz="1100" spc="-35">
                <a:latin typeface="Tahoma"/>
                <a:cs typeface="Tahoma"/>
              </a:rPr>
              <a:t>model </a:t>
            </a:r>
            <a:r>
              <a:rPr dirty="0" sz="1100">
                <a:latin typeface="Tahoma"/>
                <a:cs typeface="Tahoma"/>
              </a:rPr>
              <a:t>top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five </a:t>
            </a:r>
            <a:r>
              <a:rPr dirty="0" sz="1100" spc="-25">
                <a:latin typeface="Tahoma"/>
                <a:cs typeface="Tahoma"/>
              </a:rPr>
              <a:t>validation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error.</a:t>
            </a:r>
            <a:endParaRPr sz="1100">
              <a:latin typeface="Tahoma"/>
              <a:cs typeface="Tahoma"/>
            </a:endParaRPr>
          </a:p>
          <a:p>
            <a:pPr marL="12700" marR="469265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ensemble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ResNets </a:t>
            </a:r>
            <a:r>
              <a:rPr dirty="0" sz="1100" spc="-60">
                <a:latin typeface="Tahoma"/>
                <a:cs typeface="Tahoma"/>
              </a:rPr>
              <a:t>achieves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3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point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5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7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percent </a:t>
            </a:r>
            <a:r>
              <a:rPr dirty="0" sz="1100">
                <a:latin typeface="Tahoma"/>
                <a:cs typeface="Tahoma"/>
              </a:rPr>
              <a:t>top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five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error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on </a:t>
            </a:r>
            <a:r>
              <a:rPr dirty="0" sz="1100" spc="-10">
                <a:latin typeface="Tahoma"/>
                <a:cs typeface="Tahoma"/>
              </a:rPr>
              <a:t>ImageNet.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ensemble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secured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first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place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ILSVRC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2015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classification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task.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1382679"/>
            <a:ext cx="481330" cy="12890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51765">
              <a:lnSpc>
                <a:spcPts val="700"/>
              </a:lnSpc>
              <a:spcBef>
                <a:spcPts val="135"/>
              </a:spcBef>
            </a:pPr>
            <a:r>
              <a:rPr dirty="0" sz="600" spc="-2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Deep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Networks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35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Degrad…</a:t>
            </a:r>
            <a:endParaRPr sz="600">
              <a:latin typeface="Arial"/>
              <a:cs typeface="Arial"/>
            </a:endParaRPr>
          </a:p>
          <a:p>
            <a:pPr marL="12700" marR="8255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Learning</a:t>
            </a:r>
            <a:r>
              <a:rPr dirty="0" sz="600" spc="5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600" spc="-1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Re…</a:t>
            </a:r>
            <a:endParaRPr sz="600">
              <a:latin typeface="Arial"/>
              <a:cs typeface="Arial"/>
            </a:endParaRPr>
          </a:p>
          <a:p>
            <a:pPr marL="12700" marR="24765">
              <a:lnSpc>
                <a:spcPts val="700"/>
              </a:lnSpc>
              <a:spcBef>
                <a:spcPts val="555"/>
              </a:spcBef>
            </a:pP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ResNets</a:t>
            </a:r>
            <a:r>
              <a:rPr dirty="0" sz="600" spc="3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Win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ILSVRC</a:t>
            </a:r>
            <a:r>
              <a:rPr dirty="0" sz="600" spc="-3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35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2…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Functions</a:t>
            </a: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 spc="-1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A…</a:t>
            </a:r>
            <a:endParaRPr sz="600">
              <a:latin typeface="Arial"/>
              <a:cs typeface="Arial"/>
            </a:endParaRPr>
          </a:p>
          <a:p>
            <a:pPr marL="12700" marR="6350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Learning</a:t>
            </a:r>
            <a:r>
              <a:rPr dirty="0" sz="600" spc="5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 spc="-9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En…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1984" y="1408658"/>
            <a:ext cx="65201" cy="652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1984" y="1790776"/>
            <a:ext cx="65201" cy="65201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25"/>
            <a:ext cx="5760085" cy="569595"/>
            <a:chOff x="0" y="25"/>
            <a:chExt cx="5760085" cy="569595"/>
          </a:xfrm>
        </p:grpSpPr>
        <p:sp>
          <p:nvSpPr>
            <p:cNvPr id="5" name="object 5"/>
            <p:cNvSpPr/>
            <p:nvPr/>
          </p:nvSpPr>
          <p:spPr>
            <a:xfrm>
              <a:off x="569366" y="25"/>
              <a:ext cx="5191125" cy="569595"/>
            </a:xfrm>
            <a:custGeom>
              <a:avLst/>
              <a:gdLst/>
              <a:ahLst/>
              <a:cxnLst/>
              <a:rect l="l" t="t" r="r" b="b"/>
              <a:pathLst>
                <a:path w="5191125" h="569595">
                  <a:moveTo>
                    <a:pt x="0" y="569366"/>
                  </a:moveTo>
                  <a:lnTo>
                    <a:pt x="5190629" y="569366"/>
                  </a:lnTo>
                  <a:lnTo>
                    <a:pt x="5190629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25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Residual</a:t>
            </a:r>
            <a:r>
              <a:rPr dirty="0" spc="80"/>
              <a:t> </a:t>
            </a:r>
            <a:r>
              <a:rPr dirty="0"/>
              <a:t>Functions</a:t>
            </a:r>
            <a:r>
              <a:rPr dirty="0" spc="80"/>
              <a:t> </a:t>
            </a:r>
            <a:r>
              <a:rPr dirty="0"/>
              <a:t>Are</a:t>
            </a:r>
            <a:r>
              <a:rPr dirty="0" spc="80"/>
              <a:t> </a:t>
            </a:r>
            <a:r>
              <a:rPr dirty="0"/>
              <a:t>Easier</a:t>
            </a:r>
            <a:r>
              <a:rPr dirty="0" spc="80"/>
              <a:t> </a:t>
            </a:r>
            <a:r>
              <a:rPr dirty="0"/>
              <a:t>to</a:t>
            </a:r>
            <a:r>
              <a:rPr dirty="0" spc="80"/>
              <a:t> </a:t>
            </a:r>
            <a:r>
              <a:rPr dirty="0"/>
              <a:t>Optimize</a:t>
            </a:r>
            <a:r>
              <a:rPr dirty="0" spc="80"/>
              <a:t> </a:t>
            </a:r>
            <a:r>
              <a:rPr dirty="0"/>
              <a:t>and</a:t>
            </a:r>
            <a:r>
              <a:rPr dirty="0" spc="80"/>
              <a:t> </a:t>
            </a:r>
            <a:r>
              <a:rPr dirty="0" spc="-25"/>
              <a:t>Closer</a:t>
            </a:r>
            <a:r>
              <a:rPr dirty="0" spc="80"/>
              <a:t> </a:t>
            </a:r>
            <a:r>
              <a:rPr dirty="0"/>
              <a:t>to</a:t>
            </a:r>
            <a:r>
              <a:rPr dirty="0" spc="80"/>
              <a:t> </a:t>
            </a:r>
            <a:r>
              <a:rPr dirty="0" spc="-20"/>
              <a:t>Zero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6619" y="647336"/>
            <a:ext cx="516255" cy="6343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9050" marR="11430">
              <a:lnSpc>
                <a:spcPts val="700"/>
              </a:lnSpc>
              <a:spcBef>
                <a:spcPts val="135"/>
              </a:spcBef>
            </a:pP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Deep</a:t>
            </a: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3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Residual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Learning</a:t>
            </a:r>
            <a:r>
              <a:rPr dirty="0" sz="600" spc="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for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Image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Recognition</a:t>
            </a:r>
            <a:endParaRPr sz="600">
              <a:latin typeface="Arial"/>
              <a:cs typeface="Arial"/>
            </a:endParaRPr>
          </a:p>
          <a:p>
            <a:pPr algn="ctr" marL="12700" marR="5080">
              <a:lnSpc>
                <a:spcPts val="700"/>
              </a:lnSpc>
              <a:spcBef>
                <a:spcPts val="580"/>
              </a:spcBef>
            </a:pPr>
            <a:r>
              <a:rPr dirty="0" sz="600">
                <a:solidFill>
                  <a:srgbClr val="9999D8"/>
                </a:solidFill>
                <a:latin typeface="Arial"/>
                <a:cs typeface="Arial"/>
              </a:rPr>
              <a:t>Kaiming</a:t>
            </a:r>
            <a:r>
              <a:rPr dirty="0" sz="600" spc="15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9999D8"/>
                </a:solidFill>
                <a:latin typeface="Arial"/>
                <a:cs typeface="Arial"/>
              </a:rPr>
              <a:t>He</a:t>
            </a:r>
            <a:r>
              <a:rPr dirty="0" sz="600" spc="15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9999D8"/>
                </a:solidFill>
                <a:latin typeface="Arial"/>
                <a:cs typeface="Arial"/>
              </a:rPr>
              <a:t>et</a:t>
            </a:r>
            <a:r>
              <a:rPr dirty="0" sz="600" spc="500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9999D8"/>
                </a:solidFill>
                <a:latin typeface="Arial"/>
                <a:cs typeface="Arial"/>
              </a:rPr>
              <a:t>al.</a:t>
            </a:r>
            <a:endParaRPr sz="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1984" y="819569"/>
            <a:ext cx="65201" cy="652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1984" y="1201673"/>
            <a:ext cx="65201" cy="652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13752" y="736052"/>
            <a:ext cx="4486910" cy="133858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123825">
              <a:lnSpc>
                <a:spcPct val="102699"/>
              </a:lnSpc>
              <a:spcBef>
                <a:spcPts val="55"/>
              </a:spcBef>
            </a:pPr>
            <a:r>
              <a:rPr dirty="0" sz="1100" spc="-10">
                <a:latin typeface="Tahoma"/>
                <a:cs typeface="Tahoma"/>
              </a:rPr>
              <a:t>Optimization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diﬀiculties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cause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degradation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plain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networks,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not</a:t>
            </a:r>
            <a:r>
              <a:rPr dirty="0" sz="1100" spc="-35">
                <a:latin typeface="Tahoma"/>
                <a:cs typeface="Tahoma"/>
              </a:rPr>
              <a:t> vanishing </a:t>
            </a:r>
            <a:r>
              <a:rPr dirty="0" sz="1100" spc="-10">
                <a:latin typeface="Tahoma"/>
                <a:cs typeface="Tahoma"/>
              </a:rPr>
              <a:t>gradients.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Tahoma"/>
                <a:cs typeface="Tahoma"/>
              </a:rPr>
              <a:t>Batch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normalization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ensures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healthy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signal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propagation,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preventing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vanishing </a:t>
            </a:r>
            <a:r>
              <a:rPr dirty="0" sz="1100" spc="-10">
                <a:latin typeface="Tahoma"/>
                <a:cs typeface="Tahoma"/>
              </a:rPr>
              <a:t>gradients.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-30">
                <a:latin typeface="Tahoma"/>
                <a:cs typeface="Tahoma"/>
              </a:rPr>
              <a:t>Residual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learning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75">
                <a:latin typeface="Tahoma"/>
                <a:cs typeface="Tahoma"/>
              </a:rPr>
              <a:t>eases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optimization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driving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weights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towards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zero.</a:t>
            </a:r>
            <a:endParaRPr sz="1100">
              <a:latin typeface="Tahoma"/>
              <a:cs typeface="Tahoma"/>
            </a:endParaRPr>
          </a:p>
          <a:p>
            <a:pPr marL="12700" marR="52705">
              <a:lnSpc>
                <a:spcPct val="102600"/>
              </a:lnSpc>
              <a:spcBef>
                <a:spcPts val="300"/>
              </a:spcBef>
            </a:pPr>
            <a:r>
              <a:rPr dirty="0" sz="1100" spc="-45">
                <a:latin typeface="Tahoma"/>
                <a:cs typeface="Tahoma"/>
              </a:rPr>
              <a:t>Learned</a:t>
            </a:r>
            <a:r>
              <a:rPr dirty="0" sz="1100" spc="-35">
                <a:latin typeface="Tahoma"/>
                <a:cs typeface="Tahoma"/>
              </a:rPr>
              <a:t> residual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functions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generally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have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smaller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responses,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shown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Figure seven.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1382679"/>
            <a:ext cx="481330" cy="12890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51765">
              <a:lnSpc>
                <a:spcPts val="700"/>
              </a:lnSpc>
              <a:spcBef>
                <a:spcPts val="135"/>
              </a:spcBef>
            </a:pPr>
            <a:r>
              <a:rPr dirty="0" sz="600" spc="-2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Deep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Networks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35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Degrad…</a:t>
            </a:r>
            <a:endParaRPr sz="600">
              <a:latin typeface="Arial"/>
              <a:cs typeface="Arial"/>
            </a:endParaRPr>
          </a:p>
          <a:p>
            <a:pPr marL="12700" marR="8255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Learning</a:t>
            </a:r>
            <a:r>
              <a:rPr dirty="0" sz="600" spc="5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600" spc="-1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Re…</a:t>
            </a:r>
            <a:endParaRPr sz="600">
              <a:latin typeface="Arial"/>
              <a:cs typeface="Arial"/>
            </a:endParaRPr>
          </a:p>
          <a:p>
            <a:pPr marL="12700" marR="24765">
              <a:lnSpc>
                <a:spcPts val="700"/>
              </a:lnSpc>
              <a:spcBef>
                <a:spcPts val="555"/>
              </a:spcBef>
            </a:pP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ResNets</a:t>
            </a:r>
            <a:r>
              <a:rPr dirty="0" sz="600" spc="3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Win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ILSVRC</a:t>
            </a:r>
            <a:r>
              <a:rPr dirty="0" sz="600" spc="-3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3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2…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Residual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Functions</a:t>
            </a: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 spc="-10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A…</a:t>
            </a:r>
            <a:endParaRPr sz="600">
              <a:latin typeface="Arial"/>
              <a:cs typeface="Arial"/>
            </a:endParaRPr>
          </a:p>
          <a:p>
            <a:pPr marL="12700" marR="6350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Learning</a:t>
            </a:r>
            <a:r>
              <a:rPr dirty="0" sz="600" spc="5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 spc="-90">
                <a:solidFill>
                  <a:srgbClr val="8484D1"/>
                </a:solidFill>
                <a:latin typeface="Arial"/>
                <a:cs typeface="Arial"/>
                <a:hlinkClick r:id="rId7" action="ppaction://hlinksldjump"/>
              </a:rPr>
              <a:t>En…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1984" y="1583791"/>
            <a:ext cx="65201" cy="652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1984" y="1793824"/>
            <a:ext cx="65201" cy="65201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25"/>
            <a:ext cx="5760085" cy="569595"/>
            <a:chOff x="0" y="25"/>
            <a:chExt cx="5760085" cy="569595"/>
          </a:xfrm>
        </p:grpSpPr>
        <p:sp>
          <p:nvSpPr>
            <p:cNvPr id="5" name="object 5"/>
            <p:cNvSpPr/>
            <p:nvPr/>
          </p:nvSpPr>
          <p:spPr>
            <a:xfrm>
              <a:off x="569366" y="25"/>
              <a:ext cx="5191125" cy="569595"/>
            </a:xfrm>
            <a:custGeom>
              <a:avLst/>
              <a:gdLst/>
              <a:ahLst/>
              <a:cxnLst/>
              <a:rect l="l" t="t" r="r" b="b"/>
              <a:pathLst>
                <a:path w="5191125" h="569595">
                  <a:moveTo>
                    <a:pt x="0" y="569366"/>
                  </a:moveTo>
                  <a:lnTo>
                    <a:pt x="5190629" y="569366"/>
                  </a:lnTo>
                  <a:lnTo>
                    <a:pt x="5190629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25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Residual</a:t>
            </a:r>
            <a:r>
              <a:rPr dirty="0" spc="135"/>
              <a:t> </a:t>
            </a:r>
            <a:r>
              <a:rPr dirty="0"/>
              <a:t>Learning</a:t>
            </a:r>
            <a:r>
              <a:rPr dirty="0" spc="135"/>
              <a:t> </a:t>
            </a:r>
            <a:r>
              <a:rPr dirty="0"/>
              <a:t>Enables</a:t>
            </a:r>
            <a:r>
              <a:rPr dirty="0" spc="140"/>
              <a:t> </a:t>
            </a:r>
            <a:r>
              <a:rPr dirty="0"/>
              <a:t>Training</a:t>
            </a:r>
            <a:r>
              <a:rPr dirty="0" spc="135"/>
              <a:t> </a:t>
            </a:r>
            <a:r>
              <a:rPr dirty="0"/>
              <a:t>of</a:t>
            </a:r>
            <a:r>
              <a:rPr dirty="0" spc="140"/>
              <a:t> </a:t>
            </a:r>
            <a:r>
              <a:rPr dirty="0"/>
              <a:t>Extremely</a:t>
            </a:r>
            <a:r>
              <a:rPr dirty="0" spc="135"/>
              <a:t> </a:t>
            </a:r>
            <a:r>
              <a:rPr dirty="0"/>
              <a:t>Deep</a:t>
            </a:r>
            <a:r>
              <a:rPr dirty="0" spc="140"/>
              <a:t> </a:t>
            </a:r>
            <a:r>
              <a:rPr dirty="0" spc="-30"/>
              <a:t>Networks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6619" y="647336"/>
            <a:ext cx="516255" cy="6343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9050" marR="11430">
              <a:lnSpc>
                <a:spcPts val="700"/>
              </a:lnSpc>
              <a:spcBef>
                <a:spcPts val="135"/>
              </a:spcBef>
            </a:pP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Deep</a:t>
            </a: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3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Residual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Learning</a:t>
            </a:r>
            <a:r>
              <a:rPr dirty="0" sz="600" spc="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for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Image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Recognition</a:t>
            </a:r>
            <a:endParaRPr sz="600">
              <a:latin typeface="Arial"/>
              <a:cs typeface="Arial"/>
            </a:endParaRPr>
          </a:p>
          <a:p>
            <a:pPr algn="ctr" marL="12700" marR="5080">
              <a:lnSpc>
                <a:spcPts val="700"/>
              </a:lnSpc>
              <a:spcBef>
                <a:spcPts val="580"/>
              </a:spcBef>
            </a:pPr>
            <a:r>
              <a:rPr dirty="0" sz="600">
                <a:solidFill>
                  <a:srgbClr val="9999D8"/>
                </a:solidFill>
                <a:latin typeface="Arial"/>
                <a:cs typeface="Arial"/>
              </a:rPr>
              <a:t>Kaiming</a:t>
            </a:r>
            <a:r>
              <a:rPr dirty="0" sz="600" spc="15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9999D8"/>
                </a:solidFill>
                <a:latin typeface="Arial"/>
                <a:cs typeface="Arial"/>
              </a:rPr>
              <a:t>He</a:t>
            </a:r>
            <a:r>
              <a:rPr dirty="0" sz="600" spc="15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9999D8"/>
                </a:solidFill>
                <a:latin typeface="Arial"/>
                <a:cs typeface="Arial"/>
              </a:rPr>
              <a:t>et</a:t>
            </a:r>
            <a:r>
              <a:rPr dirty="0" sz="600" spc="500">
                <a:solidFill>
                  <a:srgbClr val="9999D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9999D8"/>
                </a:solidFill>
                <a:latin typeface="Arial"/>
                <a:cs typeface="Arial"/>
              </a:rPr>
              <a:t>al.</a:t>
            </a:r>
            <a:endParaRPr sz="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1984" y="818045"/>
            <a:ext cx="65201" cy="652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1984" y="1028077"/>
            <a:ext cx="65201" cy="652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1984" y="1238110"/>
            <a:ext cx="65201" cy="652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13752" y="690750"/>
            <a:ext cx="4427220" cy="141986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authors</a:t>
            </a:r>
            <a:r>
              <a:rPr dirty="0" sz="1100" spc="-30">
                <a:latin typeface="Tahoma"/>
                <a:cs typeface="Tahoma"/>
              </a:rPr>
              <a:t> introduced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deep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residual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learning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framework.</a:t>
            </a:r>
            <a:endParaRPr sz="1100">
              <a:latin typeface="Tahoma"/>
              <a:cs typeface="Tahoma"/>
            </a:endParaRPr>
          </a:p>
          <a:p>
            <a:pPr marL="12700" marR="471805">
              <a:lnSpc>
                <a:spcPct val="125299"/>
              </a:lnSpc>
            </a:pP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framework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makes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training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substantially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deeper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networks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easier.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allows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significant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accuracy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gains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45">
                <a:latin typeface="Tahoma"/>
                <a:cs typeface="Tahoma"/>
              </a:rPr>
              <a:t> increased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depth.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  <a:spcBef>
                <a:spcPts val="295"/>
              </a:spcBef>
            </a:pPr>
            <a:r>
              <a:rPr dirty="0" sz="1100">
                <a:latin typeface="Tahoma"/>
                <a:cs typeface="Tahoma"/>
              </a:rPr>
              <a:t>The </a:t>
            </a:r>
            <a:r>
              <a:rPr dirty="0" sz="1100" spc="-50">
                <a:latin typeface="Tahoma"/>
                <a:cs typeface="Tahoma"/>
              </a:rPr>
              <a:t>framework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shows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effectiveness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ImageNet,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CIFAR </a:t>
            </a:r>
            <a:r>
              <a:rPr dirty="0" sz="1100" spc="-35">
                <a:latin typeface="Tahoma"/>
                <a:cs typeface="Tahoma"/>
              </a:rPr>
              <a:t>10,</a:t>
            </a:r>
            <a:r>
              <a:rPr dirty="0" sz="1100">
                <a:latin typeface="Tahoma"/>
                <a:cs typeface="Tahoma"/>
              </a:rPr>
              <a:t> PASCAL </a:t>
            </a:r>
            <a:r>
              <a:rPr dirty="0" sz="1100" spc="-20">
                <a:latin typeface="Tahoma"/>
                <a:cs typeface="Tahoma"/>
              </a:rPr>
              <a:t>VOC, </a:t>
            </a:r>
            <a:r>
              <a:rPr dirty="0" sz="1100">
                <a:latin typeface="Tahoma"/>
                <a:cs typeface="Tahoma"/>
              </a:rPr>
              <a:t>MS</a:t>
            </a:r>
            <a:r>
              <a:rPr dirty="0" sz="1100" spc="10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COCO.</a:t>
            </a:r>
            <a:endParaRPr sz="1100">
              <a:latin typeface="Tahoma"/>
              <a:cs typeface="Tahoma"/>
            </a:endParaRPr>
          </a:p>
          <a:p>
            <a:pPr marL="12700" marR="27940">
              <a:lnSpc>
                <a:spcPct val="102600"/>
              </a:lnSpc>
              <a:spcBef>
                <a:spcPts val="300"/>
              </a:spcBef>
            </a:pPr>
            <a:r>
              <a:rPr dirty="0" sz="1100" spc="-30">
                <a:latin typeface="Tahoma"/>
                <a:cs typeface="Tahoma"/>
              </a:rPr>
              <a:t>Residual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learning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secured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multiple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first-</a:t>
            </a:r>
            <a:r>
              <a:rPr dirty="0" sz="1100" spc="-20">
                <a:latin typeface="Tahoma"/>
                <a:cs typeface="Tahoma"/>
              </a:rPr>
              <a:t>place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finishes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ILSVRC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COCO </a:t>
            </a:r>
            <a:r>
              <a:rPr dirty="0" sz="1100" spc="-10">
                <a:latin typeface="Tahoma"/>
                <a:cs typeface="Tahoma"/>
              </a:rPr>
              <a:t>2015.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60" y="1382679"/>
            <a:ext cx="481330" cy="12890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51765">
              <a:lnSpc>
                <a:spcPts val="700"/>
              </a:lnSpc>
              <a:spcBef>
                <a:spcPts val="135"/>
              </a:spcBef>
            </a:pPr>
            <a:r>
              <a:rPr dirty="0" sz="600" spc="-2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Deep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Networks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600" spc="-35">
                <a:solidFill>
                  <a:srgbClr val="8484D1"/>
                </a:solidFill>
                <a:latin typeface="Arial"/>
                <a:cs typeface="Arial"/>
                <a:hlinkClick r:id="rId3" action="ppaction://hlinksldjump"/>
              </a:rPr>
              <a:t>Degrad…</a:t>
            </a:r>
            <a:endParaRPr sz="600">
              <a:latin typeface="Arial"/>
              <a:cs typeface="Arial"/>
            </a:endParaRPr>
          </a:p>
          <a:p>
            <a:pPr marL="12700" marR="8255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Learning</a:t>
            </a:r>
            <a:r>
              <a:rPr dirty="0" sz="600" spc="5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600" spc="-110">
                <a:solidFill>
                  <a:srgbClr val="8484D1"/>
                </a:solidFill>
                <a:latin typeface="Arial"/>
                <a:cs typeface="Arial"/>
                <a:hlinkClick r:id="rId4" action="ppaction://hlinksldjump"/>
              </a:rPr>
              <a:t>Re…</a:t>
            </a:r>
            <a:endParaRPr sz="600">
              <a:latin typeface="Arial"/>
              <a:cs typeface="Arial"/>
            </a:endParaRPr>
          </a:p>
          <a:p>
            <a:pPr marL="12700" marR="24765">
              <a:lnSpc>
                <a:spcPts val="700"/>
              </a:lnSpc>
              <a:spcBef>
                <a:spcPts val="555"/>
              </a:spcBef>
            </a:pP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ResNets</a:t>
            </a:r>
            <a:r>
              <a:rPr dirty="0" sz="600" spc="3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Win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ILSVRC</a:t>
            </a:r>
            <a:r>
              <a:rPr dirty="0" sz="600" spc="-30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35">
                <a:solidFill>
                  <a:srgbClr val="8484D1"/>
                </a:solidFill>
                <a:latin typeface="Arial"/>
                <a:cs typeface="Arial"/>
                <a:hlinkClick r:id="rId5" action="ppaction://hlinksldjump"/>
              </a:rPr>
              <a:t>2…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Residual</a:t>
            </a:r>
            <a:r>
              <a:rPr dirty="0" sz="600" spc="5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Functions</a:t>
            </a:r>
            <a:r>
              <a:rPr dirty="0" sz="600" spc="-25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 spc="-100">
                <a:solidFill>
                  <a:srgbClr val="8484D1"/>
                </a:solidFill>
                <a:latin typeface="Arial"/>
                <a:cs typeface="Arial"/>
                <a:hlinkClick r:id="rId6" action="ppaction://hlinksldjump"/>
              </a:rPr>
              <a:t>A…</a:t>
            </a:r>
            <a:endParaRPr sz="600">
              <a:latin typeface="Arial"/>
              <a:cs typeface="Arial"/>
            </a:endParaRPr>
          </a:p>
          <a:p>
            <a:pPr marL="12700" marR="6350">
              <a:lnSpc>
                <a:spcPts val="700"/>
              </a:lnSpc>
              <a:spcBef>
                <a:spcPts val="560"/>
              </a:spcBef>
            </a:pP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Residual</a:t>
            </a:r>
            <a:r>
              <a:rPr dirty="0" sz="600" spc="5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Learning</a:t>
            </a:r>
            <a:r>
              <a:rPr dirty="0" sz="600" spc="5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 spc="-9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En…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1984" y="1448142"/>
            <a:ext cx="65201" cy="6520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1984" y="1830247"/>
            <a:ext cx="65201" cy="65201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Kaiming He et al.</dc:creator>
  <dc:title>Deep Residual Learning for Image Recognition</dc:title>
  <dcterms:created xsi:type="dcterms:W3CDTF">2026-10-13T08:49:36Z</dcterms:created>
  <dcterms:modified xsi:type="dcterms:W3CDTF">2026-10-13T08:49:36Z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2026-10-13T00:00:00Z</vt:filetime>
  </property>
  <property fmtid="{D5CDD505-2E9C-101B-9397-08002B2CF9AE}" pid="4" name="Creator">
    <vt:lpwstr>LaTeX with Beamer class</vt:lpwstr>
  </property>
  <property fmtid="{D5CDD505-2E9C-101B-9397-08002B2CF9AE}" pid="5" name="Producer">
    <vt:lpwstr>xdvipdfmx (20240305)</vt:lpwstr>
  </property>
  <property fmtid="{D5CDD505-2E9C-101B-9397-08002B2CF9AE}" pid="6" name="LastSaved">
    <vt:filetime>2026-10-13T00:00:00Z</vt:filetime>
  </property>
</Properties>
</file>